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09728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E9C466"/>
                </a:solidFill>
                <a:latin typeface="WenQuanYi Zen Hei"/>
                <a:ea typeface="WenQuanYi Zen Hei"/>
              </a:rPr>
              <a:t>FIRST-PRINCIPLES DEVICE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645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WenQuanYi Zen Hei"/>
                <a:ea typeface="WenQuanYi Zen Hei"/>
              </a:rPr>
              <a:t>熱磁發電機（TMG）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2F4F7"/>
                </a:solidFill>
                <a:latin typeface="WenQuanYi Zen Hei"/>
                <a:ea typeface="WenQuanYi Zen Hei"/>
              </a:rPr>
              <a:t>材料篩選 → 整機設計 → 真實資料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WenQuanYi Zen Hei"/>
                <a:ea typeface="WenQuanYi Zen Hei"/>
              </a:rPr>
              <a:t>從純數學與熱力學底層邏輯出發，建出整機效能模型，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F2F4F7"/>
                </a:solidFill>
                <a:latin typeface="WenQuanYi Zen Hei"/>
                <a:ea typeface="WenQuanYi Zen Hei"/>
              </a:rPr>
              <a:t>並一路追到真實量測資料校準的研究歷程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E9C466"/>
                </a:solidFill>
                <a:latin typeface="WenQuanYi Zen Hei"/>
                <a:ea typeface="WenQuanYi Zen Hei"/>
              </a:rPr>
              <a:t>alloy_engine  ·  研究簡報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研究主線（一句話）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262B33"/>
                </a:solidFill>
                <a:latin typeface="WenQuanYi Zen Hei"/>
                <a:ea typeface="WenQuanYi Zen Hei"/>
              </a:rPr>
              <a:t>從 TMG 的數學/熱力學推導出發，建出整機效能模型，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1F3A5F"/>
                </a:solidFill>
                <a:latin typeface="WenQuanYi Zen Hei"/>
                <a:ea typeface="WenQuanYi Zen Hei"/>
              </a:rPr>
              <a:t>發現瓶頸依序是「顯熱 → 磁滯 → 熱導率 κ → 元素空間 → 真實資料」，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262B33"/>
                </a:solidFill>
                <a:latin typeface="WenQuanYi Zen Hei"/>
                <a:ea typeface="WenQuanYi Zen Hei"/>
              </a:rPr>
              <a:t>並逐一處理；最終把真實 NEMAD 居禮溫度接進 GA 搜尋。</a:t>
            </a:r>
          </a:p>
        </p:txBody>
      </p:sp>
      <p:pic>
        <p:nvPicPr>
          <p:cNvPr id="8" name="Picture 7" descr="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023360"/>
            <a:ext cx="96012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ORIGIN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由來：為什麼做這件事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起點：以「純數學與熱力學底層邏輯」推算並設計熱磁發電機（TMG）。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把問題拆成三階段：熱能輸入 Q_in、磁矩變化 ΔM、電磁功輸出 W。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原引擎只是「熱磁合金材料篩選器」——只算材料層。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材料層回答不了「能組出怎樣的發電機」這個整機問題。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本研究的工作：把引擎從材料層延伸到整機層，再追到真實資料。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材料層 → 整機層 → 真實量測校準，三段式升級。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正反向對偶：發電（TMG）與製冷（磁熱製冷）共用材料與磁路。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製冷側有成熟文獻（CAS 全固態 HMR）可當量化校準錨點。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FIRST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整機三階段數學模型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61188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611880" cy="54864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① 熱能輸入 Q_in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3611880" cy="2926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3246120" cy="2651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WenQuanYi Zen Hei"/>
                <a:ea typeface="WenQuanYi Zen Hei"/>
              </a:rPr>
              <a:t>顯熱 + 磁熵兩部分：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Q = ρCpΔT(1-ε) + ρT·ΔS_M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ε = 回熱效率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→ 顯熱主導，回熱是主槓桿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3611880" cy="6400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74519"/>
            <a:ext cx="3611880" cy="54864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② 磁矩變化 ΔM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468880"/>
            <a:ext cx="3611880" cy="2926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3246120" cy="2651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WenQuanYi Zen Hei"/>
                <a:ea typeface="WenQuanYi Zen Hei"/>
              </a:rPr>
              <a:t>Maxwell 關係：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(∂M/∂T)_H = (∂S/∂H)_T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M(T) 隨溫度跨越 Tc 而變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→ 需高 ΔM 的工作溫區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828800"/>
            <a:ext cx="361188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74519"/>
            <a:ext cx="3611880" cy="54864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③ 電磁功輸出 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468880"/>
            <a:ext cx="3611880" cy="2926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651760"/>
            <a:ext cx="3246120" cy="2651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WenQuanYi Zen Hei"/>
                <a:ea typeface="WenQuanYi Zen Hei"/>
              </a:rPr>
              <a:t>磁功積分：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W = μ₀ ∮ H dM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感應電壓 V_rms ∝ f·N·ΔΦ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→ 頻率/匝數放大輸出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5A6370"/>
                </a:solidFill>
                <a:latin typeface="WenQuanYi Zen Hei"/>
                <a:ea typeface="WenQuanYi Zen Hei"/>
              </a:rPr>
              <a:t>效率 η = W / Q_in；卡諾上限 η_C = 1 - T_cold/T_hot。三式單位一致、正反向對偶成立。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DEVICE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整機架構優化：模擬結果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05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766560" cy="34030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分層發電床 + 窄化每層溫區。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效率 η：0.022% → 1.56%（×71）。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功率密度：0.73 → 4.1 MW/m³。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感應電壓：0.14 → 4.37 V（×31）。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 b="1">
                <a:solidFill>
                  <a:srgbClr val="E76F51"/>
                </a:solidFill>
                <a:latin typeface="WenQuanYi Zen Hei"/>
                <a:ea typeface="WenQuanYi Zen Hei"/>
              </a:rPr>
              <a:t>●  結論：顯熱與磁滯是死穴，回熱是主槓桿。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DUALITY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反向運作：磁熱製冷對偶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同一套材料與磁路，正向發電、反向製冷——熱力學對偶。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製冷 COP = Q_cold / W；發電 η = W / Q_in。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對標 CAS 全固態磁熱製冷 HMR：8.4 kW/kg、火用效率 59.6%。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與文獻報告 8.3 kW/kg、54.2% 量級吻合 → 模型可信。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E76F51"/>
                </a:solidFill>
                <a:latin typeface="WenQuanYi Zen Hei"/>
                <a:ea typeface="WenQuanYi Zen Hei"/>
              </a:rPr>
              <a:t>●  關鍵發現：磁滯（hysteresis）是發電與製冷兩個方向的頭號殺手。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一階材料 ΔM 大但磁滯損耗也大 → 需 hysteresis-penalized 評分。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HIDDEN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材料 what-if：熱導率 κ 是隱形殺手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直覺：只要找 ΔM 最大的材料就好——錯。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整機循環頻率 f ≈ α/(2L²)，α = κ/(ρCp) 是熱擴散率。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κ 太低 → 熱來不及進出材料 → 循環頻率被卡死 → 功率上不去。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E76F51"/>
                </a:solidFill>
                <a:latin typeface="WenQuanYi Zen Hei"/>
                <a:ea typeface="WenQuanYi Zen Hei"/>
              </a:rPr>
              <a:t>●  最好的磁熱材料（一階）往往 κ 很低，形成隱形天花板。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因此整機級目標不能只看 ΔM，必須同時看 ΔM × 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COMPOSITE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解法：複合材料（高 κ 基底 + 高 ΔM 相）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把高 ΔM 的磁熱相嵌入高 κ 基底（Cu / Al / α-Fe）。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Wiener 上下界給出有效 κ 的可行範圍。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對每個候選找最佳基底分率 φ*。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A9D8F"/>
                </a:solidFill>
                <a:latin typeface="WenQuanYi Zen Hei"/>
                <a:ea typeface="WenQuanYi Zen Hei"/>
              </a:rPr>
              <a:t>●  功率密度提升 ×2.4–×10（D4 封頂後的物理量級）。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2B33"/>
                </a:solidFill>
                <a:latin typeface="WenQuanYi Zen Hei"/>
                <a:ea typeface="WenQuanYi Zen Hei"/>
              </a:rPr>
              <a:t>–  封頂前曾膨脹到 ×22，屬非物理假象（見 D4）。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920240"/>
            <a:ext cx="4937760" cy="3291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4572000" cy="29260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複合有效物性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κ_eff：介於並聯/串聯界之間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ΔM_eff = (1-φ)·ΔM_相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φ* = 使 功率密度 最大的基底分率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E76F51"/>
                </a:solidFill>
                <a:latin typeface="WenQuanYi Zen Hei"/>
                <a:ea typeface="WenQuanYi Zen Hei"/>
              </a:rPr>
              <a:t>→ 瓶頸從「材料 κ」轉移到「元素空間」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GA 直接最佳化整機目標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GPU 向量化遺傳演算法，族群可達數萬，每秒數百萬次評估。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兩種 fitness 模式：softmag（軟磁）與 thermomagnetic（熱磁）。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整機目標 w_device &gt; 0 時，GA 直接最佳化「功率密度 × 效率」。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--device-matrix 讓 GA 為每個候選自動找最佳複合基底分率。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化學可合成性軟約束：脆相、析出相、鐵磁基底不足、稀土可製造性。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讓 GA 不選出物理上無法製造的配方。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SEARCH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元素空間擴張：加入稀土 Gd / 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瓶頸轉移到元素空間後，擴張 10 → 12 元素（加 Gd、La）。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Gd：低 Tc 鐵磁體（≈293K / 20°C），室溫磁熱效應的標竿材料。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La：搭配 Fe-Si 形成 La(Fe,Si)₁₃ 一階磁熱相，Tc 近室溫。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新增「近室溫廢熱_25C」情境，對應稀土室溫 MCE。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A9D8F"/>
                </a:solidFill>
                <a:latin typeface="WenQuanYi Zen Hei"/>
                <a:ea typeface="WenQuanYi Zen Hei"/>
              </a:rPr>
              <a:t>●  結果：GA 在該情境自主收斂到 Gd 基室溫材料——行為符合物理。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持平評估：12 項已知缺陷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整體判斷：概念完整、內部一致、適合相對比較與設計探索；但絕對量化可信度被一個根因卡住——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50592"/>
            <a:ext cx="10149840" cy="6400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WenQuanYi Zen Hei"/>
                <a:ea typeface="WenQuanYi Zen Hei"/>
              </a:rPr>
              <a:t>根因：以「合成物理」訓練，未對標真實量測。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第一級（可信度）：D1 Tc 落差、D2 稀土外推、D3 ΔM 無真實來源。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第二級（物理保真度）：D4 頻率無上限、D5 一階相變、D6 假設參數、D7 無 CI。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第三級（覆蓋/工程）：D8 缺 P/Ge、D9 可製造性高估、D10–D12。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缺陷處理狀態：5 項已修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12</a:t>
            </a:r>
          </a:p>
        </p:txBody>
      </p:sp>
      <p:pic>
        <p:nvPicPr>
          <p:cNvPr id="7" name="Picture 6" descr="defect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9418320" cy="48054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FIX · D7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D7：建立 CI 迴歸防護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問題：10→12 元素擴張曾「靜默」弄壞 NEMAD 腳本（維度不符），無人察覺。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修復：GitHub Actions 在每次 push / PR 跑全套件 + 7 支腳本 py_compile。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A9D8F"/>
                </a:solidFill>
                <a:latin typeface="WenQuanYi Zen Hei"/>
                <a:ea typeface="WenQuanYi Zen Hei"/>
              </a:rPr>
              <a:t>●  效果：把沉默迴歸變成 CI 紅燈，第一時間攔截。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這是「預防」類缺陷的根本防護，故列為最高優先處理。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FIX · D4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D4：整機頻率封頂（κ 不再永遠有益）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問題：f = α/(2L²) 無上限 → κ 越高 f 越高 → 複合增益膨脹到 ×22（非物理）。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WenQuanYi Zen Hei"/>
                <a:ea typeface="WenQuanYi Zen Hei"/>
              </a:rPr>
              <a:t>●  修復：有效頻率封頂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2B33"/>
                </a:solidFill>
                <a:latin typeface="WenQuanYi Zen Hei"/>
                <a:ea typeface="WenQuanYi Zen Hei"/>
              </a:rPr>
              <a:t>–  f_eff = f / (1 + f / f_max)，預設 f_max = 50 Hz。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A9D8F"/>
                </a:solidFill>
                <a:latin typeface="WenQuanYi Zen Hei"/>
                <a:ea typeface="WenQuanYi Zen Hei"/>
              </a:rPr>
              <a:t>●  效果：複合增益收斂到 ×2.4–×10 的物理量級。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011680"/>
            <a:ext cx="4937760" cy="2011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572000" cy="1645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200" b="1">
                <a:solidFill>
                  <a:srgbClr val="1F3A5F"/>
                </a:solidFill>
                <a:latin typeface="WenQuanYi Zen Hei"/>
                <a:ea typeface="WenQuanYi Zen Hei"/>
              </a:rPr>
              <a:t>f_eff = f / (1 + f / f_max)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f → 0 時 f_eff ≈ f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f → ∞ 時 f_eff → f_max（飽和）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FIX · D5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D5：一階相變的銳變（logistic）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15</a:t>
            </a:r>
          </a:p>
        </p:txBody>
      </p:sp>
      <p:pic>
        <p:nvPicPr>
          <p:cNvPr id="7" name="Picture 6" descr="m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583680" cy="34764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平均場 M=Ms(1-T/Tc)^0.5 低估一階材料。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WenQuanYi Zen Hei"/>
                <a:ea typeface="WenQuanYi Zen Hei"/>
              </a:rPr>
              <a:t>●  改用 logistic 階梯：</a:t>
            </a:r>
          </a:p>
          <a:p>
            <a:pPr lvl="1"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–  M = Ms / (1+exp((T-Tc)/w))。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transition_width_K 參數控制銳度。</a:t>
            </a:r>
          </a:p>
          <a:p>
            <a:pPr lvl="1"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262B33"/>
                </a:solidFill>
                <a:latin typeface="WenQuanYi Zen Hei"/>
                <a:ea typeface="WenQuanYi Zen Hei"/>
              </a:rPr>
              <a:t>–  預設 None = 二階，向後相容。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2A9D8F"/>
                </a:solidFill>
                <a:latin typeface="WenQuanYi Zen Hei"/>
                <a:ea typeface="WenQuanYi Zen Hei"/>
              </a:rPr>
              <a:t>●  一階 ΔM &gt; 平均場，描述更正確。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REAL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重大發現：真實資料其實「拿得到」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NEMAD FM_with_curie.csv 就在公開 GitHub repo（sumanitani/NEMAD-MagneticML）。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15,577 筆鐵磁化合物 + 居禮溫度，含 La/Ce/Pr/Nd/Gd 稀土，欄位與腳本完全吻合。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Materials Project API：DFT 磁化（需免費 API key），已驗證可連線。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E76F51"/>
                </a:solidFill>
                <a:latin typeface="WenQuanYi Zen Hei"/>
                <a:ea typeface="WenQuanYi Zen Hei"/>
              </a:rPr>
              <a:t>●  授權：NEMAD repo 無 license → 採「執行時抓取 + 引用」，資料不入版控。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A9D8F"/>
                </a:solidFill>
                <a:latin typeface="WenQuanYi Zen Hei"/>
                <a:ea typeface="WenQuanYi Zen Hei"/>
              </a:rPr>
              <a:t>●  → 把缺陷 D1 從「被阻擋」改判為「現在就能做」。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硬證據：合成資料在真實資料上失效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17</a:t>
            </a:r>
          </a:p>
        </p:txBody>
      </p:sp>
      <p:pic>
        <p:nvPicPr>
          <p:cNvPr id="7" name="Picture 6" descr="sim_t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83080"/>
            <a:ext cx="9692640" cy="48291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94360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F3A5F"/>
                </a:solidFill>
                <a:latin typeface="WenQuanYi Zen Hei"/>
                <a:ea typeface="WenQuanYi Zen Hei"/>
              </a:rPr>
              <a:t>合成代理 R² = -0.17（比直接猜平均還差）；用真實 NEMAD 訓練 R² = 0.88，與論文報告的 0.86 一致。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PROOF · D2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稀土外推的硬證據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Fe-Co 系尚可：Hiperco50 誤差 -19°C、Permalloy +30°C。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E76F51"/>
                </a:solidFill>
                <a:latin typeface="WenQuanYi Zen Hei"/>
                <a:ea typeface="WenQuanYi Zen Hei"/>
              </a:rPr>
              <a:t>●  稀土/特殊系崩潰：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La-Fe-Si 合成預測 +463°C，NEMAD 真值 -57°C → 誤差 +520°C。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Invar Fe65Ni35 誤差 +420°C。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意義：合成物理無法外推到稀土；但 NEMAD 內就有正確的 La-Fe-Si Tc（≈216K）。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A9D8F"/>
                </a:solidFill>
                <a:latin typeface="WenQuanYi Zen Hei"/>
                <a:ea typeface="WenQuanYi Zen Hei"/>
              </a:rPr>
              <a:t>–  → 真實資料同時是問題的證據，也是解答的來源。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PROOF · D3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MP 磁化：量出 Br 系統性低估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用 MP DFT 磁化對標 8 個已知鐵磁體的合成 Br。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MAE = 0.53 T；系統性偏差 bias = -0.50 T（合成 Br 系統性低估）。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意義：本引擎的 ΔM 與整機功率密度是系統性偏保守（低估）。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E76F51"/>
                </a:solidFill>
                <a:latin typeface="WenQuanYi Zen Hei"/>
                <a:ea typeface="WenQuanYi Zen Hei"/>
              </a:rPr>
              <a:t>●  謹慎處理：MP 是 0K DFT 飽和，合成 Br 是工作溫度——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直接拿 MP 值「校正」會把 ΔM 推高到不對的方向 → 列為謹慎後續，不做天真校正。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把真實 Tc 接進 GA：HybridBundle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真實 NEMAD 只有 Tc，沒有 Hc/Br/σy。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WenQuanYi Zen Hei"/>
                <a:ea typeface="WenQuanYi Zen Hei"/>
              </a:rPr>
              <a:t>●  HybridBundle = 真實 Tc 模型 + 合成 Hc/Br/σy。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62B33"/>
                </a:solidFill>
                <a:latin typeface="WenQuanYi Zen Hei"/>
                <a:ea typeface="WenQuanYi Zen Hei"/>
              </a:rPr>
              <a:t>●  對外介面與 SurrogateBundle 完全相同。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2B33"/>
                </a:solidFill>
                <a:latin typeface="WenQuanYi Zen Hei"/>
                <a:ea typeface="WenQuanYi Zen Hei"/>
              </a:rPr>
              <a:t>–  GA 無需改動即可用真實居禮溫度搜尋。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A9D8F"/>
                </a:solidFill>
                <a:latin typeface="WenQuanYi Zen Hei"/>
                <a:ea typeface="WenQuanYi Zen Hei"/>
              </a:rPr>
              <a:t>●  --hybrid-tc 旗標即可啟用。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011680"/>
            <a:ext cx="4937760" cy="3108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240280"/>
            <a:ext cx="4572000" cy="2743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WenQuanYi Zen Hei"/>
                <a:ea typeface="WenQuanYi Zen Hei"/>
              </a:rPr>
              <a:t>predict_properties(comp)：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A9D8F"/>
                </a:solidFill>
                <a:latin typeface="WenQuanYi Zen Hei"/>
                <a:ea typeface="WenQuanYi Zen Hei"/>
              </a:rPr>
              <a:t>  Tc       ← 真實 NEMAD 模型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  Hc       ← 合成代理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  Br       ← 合成代理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62B33"/>
                </a:solidFill>
                <a:latin typeface="WenQuanYi Zen Hei"/>
                <a:ea typeface="WenQuanYi Zen Hei"/>
              </a:rPr>
              <a:t>  strength ← 合成代理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WenQuanYi Zen Hei"/>
                <a:ea typeface="WenQuanYi Zen Hei"/>
              </a:rPr>
              <a:t>→ 真實 Tc 命中 153–157°C 目標帶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FIX · D9 (NEW)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D9：稀土可製造性懲罰（本次新增）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21</a:t>
            </a:r>
          </a:p>
        </p:txBody>
      </p:sp>
      <p:pic>
        <p:nvPicPr>
          <p:cNvPr id="7" name="Picture 6" descr="rare_earth_pena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400800" cy="33411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92024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262B33"/>
                </a:solidFill>
                <a:latin typeface="WenQuanYi Zen Hei"/>
                <a:ea typeface="WenQuanYi Zen Hei"/>
              </a:rPr>
              <a:t>●  問題：GA 化學約束不罰稀土，Gd 還被當鐵磁基底獎勵。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262B33"/>
                </a:solidFill>
                <a:latin typeface="WenQuanYi Zen Hei"/>
                <a:ea typeface="WenQuanYi Zen Hei"/>
              </a:rPr>
              <a:t>●  稀土易氧化、一階相脆裂，可製造性被高估。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1F3A5F"/>
                </a:solidFill>
                <a:latin typeface="WenQuanYi Zen Hei"/>
                <a:ea typeface="WenQuanYi Zen Hei"/>
              </a:rPr>
              <a:t>●  修復：兩個漸進懲罰</a:t>
            </a:r>
          </a:p>
          <a:p>
            <a:pPr lvl="1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–  氧化：(Gd+La) 線性，純稀土→0.75。</a:t>
            </a:r>
          </a:p>
          <a:p>
            <a:pPr lvl="1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262B33"/>
                </a:solidFill>
                <a:latin typeface="WenQuanYi Zen Hei"/>
                <a:ea typeface="WenQuanYi Zen Hei"/>
              </a:rPr>
              <a:t>–  脆裂：稀土×(Fe+Si) 交互。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●  down-rank 但不排除有效 MCE。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WHAT'S SOLID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哪些扎實、哪些是限制（持平記錄）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94960" cy="5943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394960" cy="54864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✅ 扎實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整機熱力學/電磁學方程正確、單位一致。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正反向（發電↔製冷）對偶成立。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製冷側對標文獻 HMR 量級吻合。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設計結論被 GA 自主行為佐證。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真實 Tc R²=0.88，可信度已實證。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394960" cy="5943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19"/>
            <a:ext cx="5394960" cy="54864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⚠ 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Hc/Br/σy 仍為合成（待 MP 校準）。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Br 系統性低估 0.50 T。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ΔM 銳度 w 仍需真實資料校準。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複合微結構參數為假設值。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62B33"/>
                </a:solidFill>
                <a:latin typeface="WenQuanYi Zen Hei"/>
                <a:ea typeface="WenQuanYi Zen Hei"/>
              </a:rPr>
              <a:t>●  發電側尚無真實原型對標。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系統架構：從元素到整機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011680"/>
            <a:ext cx="2926080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292608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元素 / 成分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011680"/>
            <a:ext cx="713232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262B33"/>
                </a:solidFill>
                <a:latin typeface="WenQuanYi Zen Hei"/>
                <a:ea typeface="WenQuanYi Zen Hei"/>
              </a:rPr>
              <a:t>12 元素 Dirichlet 取樣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017520"/>
            <a:ext cx="292608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292608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代理模型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017520"/>
            <a:ext cx="713232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262B33"/>
                </a:solidFill>
                <a:latin typeface="WenQuanYi Zen Hei"/>
                <a:ea typeface="WenQuanYi Zen Hei"/>
              </a:rPr>
              <a:t>Tc / Hc / Br / σy（合成 + 真實 Tc）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023360"/>
            <a:ext cx="2926080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60"/>
            <a:ext cx="292608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整機 / 複合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023360"/>
            <a:ext cx="713232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262B33"/>
                </a:solidFill>
                <a:latin typeface="WenQuanYi Zen Hei"/>
                <a:ea typeface="WenQuanYi Zen Hei"/>
              </a:rPr>
              <a:t>功率密度 × 效率，複合 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029200"/>
            <a:ext cx="2926080" cy="82296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292608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GA 搜尋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029200"/>
            <a:ext cx="713232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262B33"/>
                </a:solidFill>
                <a:latin typeface="WenQuanYi Zen Hei"/>
                <a:ea typeface="WenQuanYi Zen Hei"/>
              </a:rPr>
              <a:t>GPU 向量化，化學約束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1264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5A6370"/>
                </a:solidFill>
                <a:latin typeface="WenQuanYi Zen Hei"/>
                <a:ea typeface="WenQuanYi Zen Hei"/>
              </a:rPr>
              <a:t>CI（GitHub Actions）跨層守護：222 項測試 + 腳本編譯，每次 push 驗證。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真實資料來源與授權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NEMAD FM_with_curie.csv：15,577 FM 化合物 + Curie 溫度（含稀土）。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公開 GitHub 可抓；引用 Nature Communications 2025；放 external/（git-ignored）。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Materials Project：DFT 磁化 / 磁序。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需免費 API key；存 external/.mp_key（git-ignored）或 GitHub Secret。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精選 2,504 筆 Curie 資料集（arXiv 2509.17464）可作對照。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原則：資料不入版控，只「執行時抓取 + 引用」，繞過授權疑慮。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GitHub Actions 可自動化方案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A9D8F"/>
                </a:solidFill>
                <a:latin typeface="WenQuanYi Zen Hei"/>
                <a:ea typeface="WenQuanYi Zen Hei"/>
              </a:rPr>
              <a:t>●  方案 A（最高槓桿，現在就能做）：排程抓公開 NEMAD + 跑 sim-to-real 對標 → 存 artifact。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–  讓「合成 vs 真實」落差變成持續可見的指標，且不需 commit 資料。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方案 B：連續基準（benchmark-action），追蹤 R²/MAE 隨 commit 變化，回歸即標記。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方案 C：資料完整性——SHA256 digest + pandas 欄位/範圍驗證。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方案 D：MP 機密——API key 存 GitHub Secret，安全拉磁化資料。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復現指令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A9D8F"/>
                </a:solidFill>
                <a:latin typeface="DejaVu Sans Mono"/>
              </a:rPr>
              <a:t># 1. 合成代理（含 Gd/La 稀土）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62B33"/>
                </a:solidFill>
                <a:latin typeface="DejaVu Sans Mono"/>
              </a:rPr>
              <a:t>python scripts/train_surrogate.py --n-samples 6000 --epochs 100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62B33"/>
                </a:solidFill>
                <a:latin typeface="DejaVu Sans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A9D8F"/>
                </a:solidFill>
                <a:latin typeface="DejaVu Sans Mono"/>
              </a:rPr>
              <a:t># 2. 真實 NEMAD Tc 基準  → R² ≈ 0.88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62B33"/>
                </a:solidFill>
                <a:latin typeface="DejaVu Sans Mono"/>
              </a:rPr>
              <a:t>python scripts/train_surrogate_nemad_baseline.py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62B33"/>
                </a:solidFill>
                <a:latin typeface="DejaVu Sans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A9D8F"/>
                </a:solidFill>
                <a:latin typeface="DejaVu Sans Mono"/>
              </a:rPr>
              <a:t># 3. sim-to-real 對標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62B33"/>
                </a:solidFill>
                <a:latin typeface="DejaVu Sans Mono"/>
              </a:rPr>
              <a:t>python scripts/nemad_eval.py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62B33"/>
                </a:solidFill>
                <a:latin typeface="DejaVu Sans Mono"/>
              </a:rPr>
              <a:t>python scripts/mp_magnetization_eval.py   # 需 MP key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62B33"/>
                </a:solidFill>
                <a:latin typeface="DejaVu Sans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A9D8F"/>
                </a:solidFill>
                <a:latin typeface="DejaVu Sans Mono"/>
              </a:rPr>
              <a:t># 4. GA 用真實 Tc + 整機/複合目標搜尋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62B33"/>
                </a:solidFill>
                <a:latin typeface="DejaVu Sans Mono"/>
              </a:rPr>
              <a:t>python scripts/run_search.py --scenario 低溫廢熱_150C \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62B33"/>
                </a:solidFill>
                <a:latin typeface="DejaVu Sans Mono"/>
              </a:rPr>
              <a:t>    --mode thermomagnetic --hybrid-tc &lt;nemad_baseline.pt&gt; \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62B33"/>
                </a:solidFill>
                <a:latin typeface="DejaVu Sans Mono"/>
              </a:rPr>
              <a:t>    --w-device 1.0 --device-matrix Cu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KEY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關鍵量化結果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069848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2062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WenQuanYi Zen Hei"/>
                <a:ea typeface="WenQuanYi Zen Hei"/>
              </a:rPr>
              <a:t>主題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828800"/>
            <a:ext cx="60350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WenQuanYi Zen Hei"/>
                <a:ea typeface="WenQuanYi Zen Hei"/>
              </a:rPr>
              <a:t>數字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32304"/>
            <a:ext cx="1069848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42062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架構優化（低溫情境）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32304"/>
            <a:ext cx="60350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η 0.022%→1.56%（×71）、電壓 ×31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35808"/>
            <a:ext cx="10698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35808"/>
            <a:ext cx="42062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複合材料（Mn-Fe-P+Cu）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035808"/>
            <a:ext cx="60350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功率密度 ×10（D4 封頂後物理量級）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39312"/>
            <a:ext cx="1069848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39312"/>
            <a:ext cx="42062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製冷對標（CAS HMR）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639312"/>
            <a:ext cx="60350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8.4 kW/kg、火用效率 59.6%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42816"/>
            <a:ext cx="10698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42816"/>
            <a:ext cx="42062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Tc sim-to-real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242816"/>
            <a:ext cx="60350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合成 R²=-0.17 → 真實 R²=0.88（MAE 274→81°C）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1069848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42062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Br vs MP DFT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846320"/>
            <a:ext cx="60350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bias -0.50 T（系統性低估）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449824"/>
            <a:ext cx="10698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49824"/>
            <a:ext cx="42062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測試 / 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449824"/>
            <a:ext cx="603504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222 項測試通過，GitHub runner 綠燈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現況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A9D8F"/>
                </a:solidFill>
                <a:latin typeface="WenQuanYi Zen Hei"/>
                <a:ea typeface="WenQuanYi Zen Hei"/>
              </a:rPr>
              <a:t>●  全部 PR 已合併進 main（整機模型 → 真實 Tc → 知識備份 → D9）。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已完成：整機模型、製冷對偶、複合材料、稀土擴張、CI、D4/D5 物理修正、真實 Tc 接入 GA、D9 稀土可製造性。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E76F51"/>
                </a:solidFill>
                <a:latin typeface="WenQuanYi Zen Hei"/>
                <a:ea typeface="WenQuanYi Zen Hei"/>
              </a:rPr>
              <a:t>●  進行中：真實 Br 校準（需區分 0K 飽和 vs 工作溫度磁化）。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262B33"/>
                </a:solidFill>
                <a:latin typeface="WenQuanYi Zen Hei"/>
                <a:ea typeface="WenQuanYi Zen Hei"/>
              </a:rPr>
              <a:t>●  已連通：NEMAD（Tc）、MP（磁化）皆可取用，剩整合與校準。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  <a:latin typeface="WenQuanYi Zen Hei"/>
                <a:ea typeface="WenQuanYi Zen Hei"/>
              </a:rPr>
              <a:t>●  222 項測試通過，CI 於 GitHub runner 實證綠燈。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WenQuanYi Zen Hei"/>
                <a:ea typeface="WenQuanYi Zen He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WenQuanYi Zen Hei"/>
                <a:ea typeface="WenQuanYi Zen Hei"/>
              </a:rPr>
              <a:t>下一步路線圖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2011680" cy="3810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5A6370"/>
                </a:solidFill>
                <a:latin typeface="WenQuanYi Zen Hei"/>
                <a:ea typeface="WenQuanYi Zen Hei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280160" cy="731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28016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WenQuanYi Zen Hei"/>
                <a:ea typeface="WenQuanYi Zen Hei"/>
              </a:rPr>
              <a:t>近期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828800"/>
            <a:ext cx="91440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D2：把真實 NEMAD Tc 併入主代理（不只 inference 期的 HybridBundle）。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1280160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128016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WenQuanYi Zen Hei"/>
                <a:ea typeface="WenQuanYi Zen Hei"/>
              </a:rPr>
              <a:t>近期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97480"/>
            <a:ext cx="91440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GHA 方案 A：排程 NEMAD sim-to-real 基準 → artifact。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566160"/>
            <a:ext cx="1280160" cy="73152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128016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WenQuanYi Zen Hei"/>
                <a:ea typeface="WenQuanYi Zen Hei"/>
              </a:rPr>
              <a:t>中期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566160"/>
            <a:ext cx="91440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D3：建 0K-飽和 → 工作溫度的 Br 溫度修正模型，再併入 MP 磁化。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34840"/>
            <a:ext cx="1280160" cy="7315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128016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WenQuanYi Zen Hei"/>
                <a:ea typeface="WenQuanYi Zen Hei"/>
              </a:rPr>
              <a:t>中期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434840"/>
            <a:ext cx="91440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D8：補 P/Ge 元素與 La-Fe-Si-H 氫化 Tc 上修模型。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303520"/>
            <a:ext cx="1280160" cy="731520"/>
          </a:xfrm>
          <a:prstGeom prst="rect">
            <a:avLst/>
          </a:prstGeom>
          <a:solidFill>
            <a:srgbClr val="5A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128016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WenQuanYi Zen Hei"/>
                <a:ea typeface="WenQuanYi Zen Hei"/>
              </a:rPr>
              <a:t>長期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303520"/>
            <a:ext cx="91440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B33"/>
                </a:solidFill>
                <a:latin typeface="WenQuanYi Zen Hei"/>
                <a:ea typeface="WenQuanYi Zen Hei"/>
              </a:rPr>
              <a:t>D12：找文獻 TMG 原型數據，錨定發電側 W/η/P。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9144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WenQuanYi Zen Hei"/>
                <a:ea typeface="WenQuanYi Zen Hei"/>
              </a:rPr>
              <a:t>從第一性原理到真實資料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0">
                <a:solidFill>
                  <a:srgbClr val="F2F4F7"/>
                </a:solidFill>
                <a:latin typeface="WenQuanYi Zen Hei"/>
                <a:ea typeface="WenQuanYi Zen Hei"/>
              </a:rPr>
              <a:t>一條完整、誠實、可復現的研究線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F2F4F7"/>
                </a:solidFill>
                <a:latin typeface="WenQuanYi Zen Hei"/>
                <a:ea typeface="WenQuanYi Zen Hei"/>
              </a:rPr>
              <a:t>●  整機模型讓我們看清瓶頸鏈：顯熱 → 磁滯 → κ → 元素空間 → 真實資料。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F2F4F7"/>
                </a:solidFill>
                <a:latin typeface="WenQuanYi Zen Hei"/>
                <a:ea typeface="WenQuanYi Zen Hei"/>
              </a:rPr>
              <a:t>●  每一步的結論都被物理、文獻或 GA 自主行為佐證；缺陷誠實登錄。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F2F4F7"/>
                </a:solidFill>
                <a:latin typeface="WenQuanYi Zen Hei"/>
                <a:ea typeface="WenQuanYi Zen Hei"/>
              </a:rPr>
              <a:t>●  真實 NEMAD Tc 把可信度從「相對工具」推向「絕對預測」（R² 0.88）。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F2F4F7"/>
                </a:solidFill>
                <a:latin typeface="WenQuanYi Zen Hei"/>
                <a:ea typeface="WenQuanYi Zen Hei"/>
              </a:rPr>
              <a:t>●  下一步：把真實磁化謹慎校準進來，並用 GHA 持續監測 sim-to-real 落差。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