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91440"/>
          </a:xfrm>
          <a:prstGeom prst="rect">
            <a:avLst/>
          </a:prstGeom>
          <a:solidFill>
            <a:srgbClr val="E9C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E9C466"/>
                </a:solidFill>
                <a:latin typeface="PingFang TC"/>
                <a:ea typeface="PingFang TC"/>
              </a:rPr>
              <a:t>THERMOMAGNETIC GENERATOR — ARCHITECTURE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4200" b="1">
                <a:solidFill>
                  <a:srgbClr val="FFFFFF"/>
                </a:solidFill>
                <a:latin typeface="PingFang TC"/>
                <a:ea typeface="PingFang TC"/>
              </a:rPr>
              <a:t>熱磁發電機架構規格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F2F4F7"/>
                </a:solidFill>
                <a:latin typeface="PingFang TC"/>
                <a:ea typeface="PingFang TC"/>
              </a:rPr>
              <a:t>飛輪式（旋轉） vs 活塞式（往復）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F2F4F7"/>
                </a:solidFill>
                <a:latin typeface="PingFang TC"/>
                <a:ea typeface="PingFang TC"/>
              </a:rPr>
              <a:t>網路調研（46 引用） + GA 架構↔材料共同設計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>
                <a:solidFill>
                  <a:srgbClr val="E9C466"/>
                </a:solidFill>
                <a:latin typeface="PingFang TC"/>
                <a:ea typeface="PingFang TC"/>
              </a:rPr>
              <a:t>alloy_engine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PingFang TC"/>
                <a:ea typeface="PingFang TC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PingFang TC"/>
                <a:ea typeface="PingFang TC"/>
              </a:rPr>
              <a:t>摘要與建議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37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0">
                <a:solidFill>
                  <a:srgbClr val="262B33"/>
                </a:solidFill>
                <a:latin typeface="PingFang TC"/>
                <a:ea typeface="PingFang TC"/>
              </a:rPr>
              <a:t>本規格比較磁熱發電（TMG）的兩種能量解構：飛輪式（旋轉、空間分離冷熱）與活塞式（往復／共振、時間交替冷熱）。結論：以工業廢熱（連續、大 ΔT）為目標，飛輪式為量產首選——其效率優勢約 3.5–5×，幾乎全部來自回熱（ε 0.85–0.95 vs 活塞 &lt;0.3）；只有空間分離才能做到高 ε。活塞式適合 Phase-0 先導（單元、便宜、共振可放大小 ΔT）。下列參數與數字均附網路調研引用；GA 共同設計顯示最佳合金會隨架構漂移。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114800"/>
            <a:ext cx="11064240" cy="15544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2A9D8F"/>
                </a:solidFill>
                <a:latin typeface="PingFang TC"/>
                <a:ea typeface="PingFang TC"/>
              </a:rPr>
              <a:t>建議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262B33"/>
                </a:solidFill>
                <a:latin typeface="PingFang TC"/>
                <a:ea typeface="PingFang TC"/>
              </a:rPr>
              <a:t>建議路線：活塞做 Phase-0 先導（去風險、單元、易量測）→ 飛輪做量產（高 ε、平穩類-DC、可規模化至 kW）。決策規則：要效率＋規模＋連續熱源→飛輪；要最低成本驗證／低品位 ΔT／可攜→活塞。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PingFang TC"/>
                <a:ea typeface="PingFang TC"/>
              </a:rPr>
              <a:t>MATERIAL CO-DESIGN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PingFang TC"/>
                <a:ea typeface="PingFang TC"/>
              </a:rPr>
              <a:t>架構↔材料共同設計（GA）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37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828800" cy="42062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554480"/>
            <a:ext cx="17556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情境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554480"/>
            <a:ext cx="914400" cy="42062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2576" y="1554480"/>
            <a:ext cx="8412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架構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54480"/>
            <a:ext cx="3017520" cy="42062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6976" y="1554480"/>
            <a:ext cx="2944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最佳配方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1097280" cy="42062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1554480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Tc°C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554480"/>
            <a:ext cx="1097280" cy="42062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51776" y="1554480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ΔM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554480"/>
            <a:ext cx="1097280" cy="42062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1554480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η%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554480"/>
            <a:ext cx="1463040" cy="42062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6336" y="1554480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PingFang TC"/>
                <a:ea typeface="PingFang TC"/>
              </a:rPr>
              <a:t>P kW/m³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975104"/>
            <a:ext cx="18288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1975104"/>
            <a:ext cx="17556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近室溫 25°C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1975104"/>
            <a:ext cx="9144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2576" y="1975104"/>
            <a:ext cx="8412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飛輪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1975104"/>
            <a:ext cx="301752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36976" y="1975104"/>
            <a:ext cx="2944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Fe24Al19Co18Cr16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975104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1975104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37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975104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6" y="1975104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0.42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1975104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49056" y="1975104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0.55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0" y="1975104"/>
            <a:ext cx="146304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46336" y="1975104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1838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395728"/>
            <a:ext cx="1828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" y="2395728"/>
            <a:ext cx="17556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近室溫 25°C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2395728"/>
            <a:ext cx="914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22576" y="2395728"/>
            <a:ext cx="8412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活塞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2395728"/>
            <a:ext cx="30175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2395728"/>
            <a:ext cx="2944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Fe29Cr19Al15Ni15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395728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2395728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35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2395728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51776" y="2395728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0.40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0" y="2395728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49056" y="2395728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0.10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2395728"/>
            <a:ext cx="14630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46336" y="2395728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1536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2816352"/>
            <a:ext cx="18288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2816352"/>
            <a:ext cx="17556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低溫 150°C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0" y="2816352"/>
            <a:ext cx="9144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22576" y="2816352"/>
            <a:ext cx="8412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飛輪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2816352"/>
            <a:ext cx="301752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36976" y="2816352"/>
            <a:ext cx="2944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Fe32Co19Al17Cr14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816352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54496" y="2816352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158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2816352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51776" y="2816352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0.39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2816352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49056" y="2816352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0.40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09760" y="2816352"/>
            <a:ext cx="146304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546336" y="2816352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1280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3236976"/>
            <a:ext cx="1828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3776" y="3236976"/>
            <a:ext cx="17556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低溫 150°C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3236976"/>
            <a:ext cx="914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22576" y="3236976"/>
            <a:ext cx="8412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活塞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3236976"/>
            <a:ext cx="30175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36976" y="3236976"/>
            <a:ext cx="2944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Fe30Co17Ni17Cr15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17920" y="3236976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54496" y="3236976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159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15200" y="3236976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351776" y="3236976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0.37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12480" y="3236976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49056" y="3236976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0.09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09760" y="3236976"/>
            <a:ext cx="14630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546336" y="3236976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1467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3657600"/>
            <a:ext cx="18288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3776" y="3657600"/>
            <a:ext cx="17556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中溫 350°C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0" y="3657600"/>
            <a:ext cx="9144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322576" y="3657600"/>
            <a:ext cx="8412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飛輪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0" y="3657600"/>
            <a:ext cx="301752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36976" y="3657600"/>
            <a:ext cx="2944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Fe31Co23Ni17Al14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217920" y="3657600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54496" y="3657600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361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15200" y="3657600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351776" y="3657600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0.36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12480" y="3657600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49056" y="3657600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0.29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09760" y="3657600"/>
            <a:ext cx="146304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46336" y="3657600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1413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57200" y="4078224"/>
            <a:ext cx="1828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3776" y="4078224"/>
            <a:ext cx="17556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中溫 350°C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6000" y="4078224"/>
            <a:ext cx="914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322576" y="4078224"/>
            <a:ext cx="8412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活塞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00400" y="4078224"/>
            <a:ext cx="30175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36976" y="4078224"/>
            <a:ext cx="2944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Fe34Co20Ni16Al16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17920" y="4078224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254496" y="4078224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361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0" y="4078224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51776" y="4078224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0.35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12480" y="4078224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49056" y="4078224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0.08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509760" y="4078224"/>
            <a:ext cx="14630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546336" y="4078224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1310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57200" y="4498848"/>
            <a:ext cx="18288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93776" y="4498848"/>
            <a:ext cx="17556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高溫 500°C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0" y="4498848"/>
            <a:ext cx="91440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322576" y="4498848"/>
            <a:ext cx="8412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飛輪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0" y="4498848"/>
            <a:ext cx="301752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36976" y="4498848"/>
            <a:ext cx="2944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Co47Fe20Al16Cr5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217920" y="4498848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254496" y="4498848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519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15200" y="4498848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51776" y="4498848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0.47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412480" y="4498848"/>
            <a:ext cx="109728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49056" y="4498848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0.36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509760" y="4498848"/>
            <a:ext cx="1463040" cy="420624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546336" y="4498848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1374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57200" y="4919472"/>
            <a:ext cx="18288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93776" y="4919472"/>
            <a:ext cx="17556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高溫 500°C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286000" y="4919472"/>
            <a:ext cx="91440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322576" y="4919472"/>
            <a:ext cx="84124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活塞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200400" y="4919472"/>
            <a:ext cx="301752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236976" y="4919472"/>
            <a:ext cx="294436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Co33Fe27Ni15Al14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217920" y="4919472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254496" y="4919472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514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315200" y="4919472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351776" y="4919472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0.37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412480" y="4919472"/>
            <a:ext cx="10972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449056" y="4919472"/>
            <a:ext cx="102412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0.08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509760" y="4919472"/>
            <a:ext cx="146304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546336" y="4919472"/>
            <a:ext cx="138988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1362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7200" y="59436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飛輪 η 優勢 3.5–5×（源自回熱 ε 0.90 vs 0.20）；最佳合金隨架構漂移。P/η 為模型上界，宜相對比較。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PingFang TC"/>
                <a:ea typeface="PingFang TC"/>
              </a:rPr>
              <a:t>SPEC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PingFang TC"/>
                <a:ea typeface="PingFang TC"/>
              </a:rPr>
              <a:t>飛輪 vs 活塞 規格表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37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377440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463040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PingFang TC"/>
                <a:ea typeface="PingFang TC"/>
              </a:rPr>
              <a:t>參數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463040"/>
            <a:ext cx="4663440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463040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PingFang TC"/>
                <a:ea typeface="PingFang TC"/>
              </a:rPr>
              <a:t>飛輪式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1463040"/>
            <a:ext cx="4663440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6" y="1463040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PingFang TC"/>
                <a:ea typeface="PingFang TC"/>
              </a:rPr>
              <a:t>活塞式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04288"/>
            <a:ext cx="2377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304288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Air-gap flux density B-gap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304288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304288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1.0–1.5 T baseline (NdFeB segmented/Halbach); aggressive 1.9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304288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2304288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~2 T peak local field (small NdFeB Halbach parallelepipeds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45536"/>
            <a:ext cx="2377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3145536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Regenerator effectiveness 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145536"/>
            <a:ext cx="4663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3145536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0.85–0.95 achievable; 16-layer plate AMR → 84% of Carnot COP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0" y="3145536"/>
            <a:ext cx="4663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3145536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Effectively low / rate-limited; temporal regeneration only 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86784"/>
            <a:ext cx="2377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3986784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Active plate / foil thickness 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986784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986784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~0.5 mm commercial bulk plate/disc limit (La-Fe-Co-Si Calori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3986784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6" y="3986784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5–40 μm thin film (Ni-Mn-Ga); Gd film to 127 μm. Thinner → 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28032"/>
            <a:ext cx="2377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4828032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Cycle frequency 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828032"/>
            <a:ext cx="4663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4828032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~0.8–2 Hz (bulk disc/wheel, heat-transfer limited); rotary 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4828032"/>
            <a:ext cx="4663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4828032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0.5–3 Hz bulk reciprocating (Ujihara 0.58 Hz, Saha 1.56–3 Hz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669280"/>
            <a:ext cx="2377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5669280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Power-take-off type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5669280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5669280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Rotary PM generator on shaft + flywheel (E=½Iω²) to smooth 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0" y="5669280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34656" y="5669280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Moving-magnet linear alternator (lowest moving mass for shar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510528"/>
            <a:ext cx="2377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" y="6510528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Realistic power density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6510528"/>
            <a:ext cx="4663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71216" y="6510528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~27 kW/m³ of TMM (Vuarnoz/Egolf, 88 W); pretzel static 1.24 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0" y="6510528"/>
            <a:ext cx="4663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4656" y="6510528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~80–120 mW/cm³ active-film volume (Ni-Mn-Ga 84/114 Hz); bulk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PingFang TC"/>
                <a:ea typeface="PingFang TC"/>
              </a:rPr>
              <a:t>SPEC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PingFang TC"/>
                <a:ea typeface="PingFang TC"/>
              </a:rPr>
              <a:t>飛輪 vs 活塞 規格表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37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377440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463040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PingFang TC"/>
                <a:ea typeface="PingFang TC"/>
              </a:rPr>
              <a:t>參數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463040"/>
            <a:ext cx="4663440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463040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PingFang TC"/>
                <a:ea typeface="PingFang TC"/>
              </a:rPr>
              <a:t>飛輪式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1463040"/>
            <a:ext cx="4663440" cy="8412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4656" y="1463040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PingFang TC"/>
                <a:ea typeface="PingFang TC"/>
              </a:rPr>
              <a:t>活塞式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04288"/>
            <a:ext cx="2377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2304288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dT regime (reservoir span)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304288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304288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Large span, 20–95 K (Swiss Blue Energy dT_res≈50 K, min 20 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0" y="2304288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34656" y="2304288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Works at very small per-cycle dT: bulk dT=25–80 C (Ujihara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45536"/>
            <a:ext cx="2377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3145536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Magnet material (temperature)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145536"/>
            <a:ext cx="4663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3145536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Magnet near constant temp (spatial separation) → NdFeB SH (≤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0" y="3145536"/>
            <a:ext cx="4663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3145536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Magnet sees larger thermal swing near hot side → favor SmCo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86784"/>
            <a:ext cx="2377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3986784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Heat-transfer mode &amp; HTC 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986784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986784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Heat-transfer fluid (water) through porous/plate AMR bed; hi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3986784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34656" y="3986784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Direct solid contact h≈8400 W/m²K (fast ~1 ms intake) + conv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28032"/>
            <a:ext cx="2377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4828032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Load impedance matching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828032"/>
            <a:ext cx="4663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4828032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Match 3-phase output to generator R + post-rectifier DC-DC 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4828032"/>
            <a:ext cx="4663440" cy="8412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4828032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Rload_opt = Rcoil + (Bl)²/c_mech (frequency-independent R);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669280"/>
            <a:ext cx="2377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" y="5669280"/>
            <a:ext cx="2304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Dominant loss / failure mode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5669280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5669280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Rotary fluid seals/bearings across temperature gradient (cro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0" y="5669280"/>
            <a:ext cx="4663440" cy="8412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34656" y="5669280"/>
            <a:ext cx="4590288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50" b="0">
                <a:solidFill>
                  <a:srgbClr val="262B33"/>
                </a:solidFill>
                <a:latin typeface="PingFang TC"/>
                <a:ea typeface="PingFang TC"/>
              </a:rPr>
              <a:t>Cooling-side bottleneck (adhesive k=0.33 W/mK barrier); low-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PingFang TC"/>
                <a:ea typeface="PingFang TC"/>
              </a:rPr>
              <a:t>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PingFang TC"/>
                <a:ea typeface="PingFang TC"/>
              </a:rPr>
              <a:t>1. 磁路設計 (Magnetic Circuit / Halbach Array)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37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主控方程 (master sizing equation): 理想 Halbach 圓筒孔內場 `B = Br · ln(ro/ri)`,場可超過磁體剩磁 Br。範例:Br=1.4 T、ro/ri=1.6 → B=0.66 T;欲達 1 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磁功 (magnetic work): `E_M = dJ · (B_applied/μ0)`,其中 dJ = μ0·(M_cold − M_hot) 為極化變化量 (Tesla)。可用循環功 = M-H 平面包絡面積。關鍵:功與 B 線性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目標 air-gap flux density: 商用窗口 1–2 T。Ferrite Halbach 僅 ~0.37–0.48 T (太弱),需 NdFeB 才達 1–2 T。Field uniformity 為首要設計目標。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Flux concentrators: 在孔內置入 soft-magnetic 極片 (FeCo/Vacoflux 飽和 ~2.35 T,或 Si-steel M270-35A) 製造交替高/低場區。實證:替換部分磁體可減 42% 磁體用量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Air-gap 質量陷阱 (mass-vs-gap): EPM 實驗 (1 T),N45 磁體質量由 4 mm gap 的 0.5 kg 升至 10 mm gap 的 2.3 kg (gap 放大 2.5× → 磁體 4.6×)。設計守則: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磁體溫度選型 (NdFeB grade ladder): N≤80°C, SH≤150°C, EH≤200°C, TH≤230°C;&gt;200°C 改用 SmCo。溫度係數:NdFeB α(Br)≈−0.12 %/°C → 25→150°C 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Demag 守則 (load line / Pc): 工作點 B/H 須在最高工作溫度的 demag 曲線 knee 之上 (knee 隨溫升上移);低於 knee 即不可逆退磁。保持高 permeance coefficient (短而厚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PingFang TC"/>
                <a:ea typeface="PingFang TC"/>
              </a:rPr>
              <a:t>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PingFang TC"/>
                <a:ea typeface="PingFang TC"/>
              </a:rPr>
              <a:t>2. 熱交換與循環速率 (Heat Exchange &amp; Cycling Rate)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37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頻率擴散極限 (diffusion limit): `f ~ α/Lc²`,α=λ/(ρ·cp) 為熱擴散率,Lc=特徵傳導長 (板半厚)。板厚減半 → 頻率 ~4×。功率密度 `PD = E_mag · f`,故熱交換 (而非磁學) 通常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Lumped-capacitance + Biot: `Bi = h·Lc/λ`,LCM 僅在 Bi≪1 (薄板/高 λ) 有效;設計目標 Bi≪1 使界面 HTC 主導。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HTC 不對稱 (關鍵): 固體接觸 h ≈ 8400 W/m²K vs 空氣對流 h ≈ 150 W/m²K (~50–60× 差距)。Ni-Mn-Ga 薄膜 (10 μm) 接觸加熱 ~1 ms,對流冷卻需 ~8 ms → 冷卻是限速半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頻率分層 (frequency gap): 薄膜 (5–127 μm) 可達 80–200 Hz (resonance matching);中大型 bulk 僅 0.5–2 Hz。此 2–3 個數量級差距為 scale-up 核心難題。La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材料熱擴散率取捨: LaFe11.8Si1.8H1 為 bulk 最佳組合;Mn1.25Fe0.7P0.5Si0.5 熱擴散率明顯較低 → 直接拉低 f 與 PD。陷阱:僅憑 entropy change 選 first-order 材料,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Magnetocaloric thermal switch (突破性): 將 MCM 當作 gating 磁路的開關 (非線圈鐵芯),功率密度較先前提升 2–3 個數量級;測試 cold 283 K / hot 363 K (dT≈80 K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拓樸對應: PISTON 用 direct solid contact (h~8000+) 快速吸熱 + 回程對流冷卻;FLYWHEEL/bulk 用 heat-transfer fluid (water,高 h) 流經 porous/pl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PingFang TC"/>
                <a:ea typeface="PingFang TC"/>
              </a:rPr>
              <a:t>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PingFang TC"/>
                <a:ea typeface="PingFang TC"/>
              </a:rPr>
              <a:t>3. 回熱器 (Regenerator / Heat Recuperation)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37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有效度定義 (effectiveness): `e = Q_actual/Q_max`,`NTU = UA/C_min`,capacity ratio `C_r = C_min/C_max`。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逆流 ε-NTU,平衡關鍵特例 (C_r=1): `e = NTU/(1+NTU)`。具體目標:NTU=5→e=0.83;NTU=10→e=0.91;NTU=20→e=0.95;NTU=100→e=0.99。達 e≈0.9–0.95 需 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矩陣第二參數: 回熱器尚需 matrix capacity ratio `C_r* = m_solid·c_solid·f/(ṁ·cp)`;修正 `e_reg = e_cf·[1 − 1/(9·C_r*^1.93)]` → matrix 熱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AMR utilization: `Φ = ṁ·cp,f·P/(m_solid·cp,s)`。低 Φ(&lt;0.3)→ 高 e、大溫跨、低功率;高 Φ → 高功率、差溫跨。最佳窗口 Φ≈0.2–1.0 且 NTU&gt;10。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推向 Carnot: e=100% 時再生循環 → η = 1 − Tc/Th (Ericsson=Carnot);可回收 exergy ~ (1−e),故 η 在高 e 區近似隨 (1−e) 線性劣化。TMG 非再生理論上限 = 55% 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旗艦數字 (為何 rotary 達高 e): 16-layer (LaFeMnSiH,Curie 268.4–305.4 K,~2.25–2.5 K 階梯) 平板 AMR,COP=5.5 = 84% of Carnot COP @ 41 K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Piston/reciprocating 罰則: static TMG 中再生僅在 0.2 Hz 使熱效率加倍,&gt;1 Hz 增益因 mixing loss 與軸向導熱而消失 (實測 25 nW vs 數值 68 mW)。Dead/void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PingFang TC"/>
                <a:ea typeface="PingFang TC"/>
              </a:rPr>
              <a:t>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PingFang TC"/>
                <a:ea typeface="PingFang TC"/>
              </a:rPr>
              <a:t>4. 電力取出與線圈 (Generator &amp; Coil / Power Take-off)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37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Faraday 基礎: 線圈 EMF `V = −N dΦ/dt = −N·A·dB/dt`;動磁體 `eps = N·B·l·v`。輸出 ∝ f·N·A·dB → 低頻是 power take-off 的核心罩門。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Linear-alternator lumped model (PISTON): 電機耦合係數 T = B·l;機械方程多出 electrical damping `c_elec = (Bl)²/(Re+Rload)` [N·s/m],此即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阻抗匹配 (max power transfer): 最佳負載 `Rload_opt = Rcoil + (Bl)²/c_mech` — 匹配至 Rcoil 加上 reflected mechanical-damping resistanc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Flywheel smoothing (ROTARY): 儲能 `E = ½·I·ω²`;速度漣波 δω/ω ~ δE/(I·ω²),大 I 與高 ω → 平滑 back-EMF。PM 機輸出 Vrms ∝ N·ω·Φ。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原型輸出數字: 共振懸臂 (Ni-Mn-Ga,84 Hz) ~118 mW/cm³ @ dT=3 K → 高頻使 induction coil 可行 (mV 級可用)。Macroscopic bulk:0.33 Hz、0.2 W/kg @ 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Linear alternator 效率: moving-magnet tubular 達 84% @ 35 Hz、91% @ 50 Hz;moving-magnet vs moving-coil 體積功率密度 +80~150%,故 Sti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Coil fill factor: 鬆繞圓線 ~55%,良好圓線 73–80%,orthocyclic 90%,矩形線 85%。高 fill → 更多匝 (高 EMF) 且每匝 Rcoil 更低。目標 ≥0.7 圓 / 0.85 矩 /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PingFang TC"/>
                <a:ea typeface="PingFang TC"/>
              </a:rPr>
              <a:t>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PingFang TC"/>
                <a:ea typeface="PingFang TC"/>
              </a:rPr>
              <a:t>5. 旋轉 vs 往復原型 (Rotary vs Reciprocating Prototypes)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37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ROTARY / Curie-wheel 旗艦: Waske 'pretzel' 靜態感應 TMG (Nature Energy 2019),La-Fe-Co-Si 板,Tt≈300–308 K:輸出 ~0.2 V、1.24 mW (vs 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Takahashi 旋轉碟 Curie-wheel (最佳古典機械輸出): Nd-B-Fe 磁體 + Fe-Ni-Cr rotor,10 碟、400 mm OD、0.5 mm 厚、1 mm clearance;water jet 95°C/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其他 rotary: Vuarnoz/Egolf (Gd discs) 至 88 W、~27 kW/m³、熱-機 2.1%;古典 Curie-wheel motor 多 &lt;1% 熱-機效率。Swiss Blue Energy 商用 Curi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PISTON 基礎原型: Ujihara (2007,seminal),Gd 於 CuBe spring 往復驅動 PZT:16.6 mV @ dT=25 C,僅 0.58 Hz (heat-transfer-limited,非 reson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KIT 共振自振 SOTA: Ni-Mn-Ga 薄膜 (10 μm、2×2 mm、Tc=375 K),114 Hz 共振自振;接觸加熱 ~1 ms,冷卻 ~8 ms (受 0.33 W/mK 黏著層瓶頸);平均 3.1 μW = 80 mW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懸臂運動方程: `F_net = m·ẍ + c·ẋ + k·x + F_mag − F_em − F_air`;effective mass `m = (33/140)·m_cant + m_coil + m_film`。共振刻意調 k 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疲勞 (意外有利): 小尺度 Ni-Mn-Ga micropillar 在 10⁶ 次 superelastic 循環基本無退化;但 114 Hz × 10⁶ ≈ 僅 2.4 小時,故需遠超 10⁶ 的高循環穩健性。Non-contact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PingFang TC"/>
                <a:ea typeface="PingFang TC"/>
              </a:rPr>
              <a:t>SUBSYSTEM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PingFang TC"/>
                <a:ea typeface="PingFang TC"/>
              </a:rPr>
              <a:t>6. 系統整合與損失 (System Integration &amp; Losses)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37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統一熱力學核心: 各拓樸熱力學相同 — 每循環可用功 = M-H 等溫線包絡面積 `W = μ0·∮M dH`;材料效率 `η = μ0·ΔM·H/Q_in`,室溫最佳 TMM ~2% ≈ 60% Carnot (dT=10 K)。差異僅在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串接效率瓶頸: Rotary 熱-機 stage (~2%) 主導整體,rotary generator stage 本身高效率。Regeneration 是唯一能突破 55%-of-Carnot 非再生上限的最大槓桿 (`η_regen 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FLYWHEEL 系統損失清單: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- Bearings &amp; rotary seals (旋轉特有失效模式): 旋轉 bed/disc carrier 須對靜止 housing 密封,同時冷熱流體跨大溫差流過。核心難題:限制旋轉 porous wheel 與靜止 manifo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- Eddy-current loss: solid 磁性 rotor 寄生加熱 → laminate soft-magnetic flux path (disc 幾何已證較優)。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- Dwell/rotation 取捨: rotor 須在每熱區停留足夠久以完整跨 Tc;太快 → 不完整 ΔM,太慢 → 低功率;LCM 最佳約每區達目標溫階 63%。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400" b="0">
                <a:solidFill>
                  <a:srgbClr val="262B33"/>
                </a:solidFill>
                <a:latin typeface="PingFang TC"/>
                <a:ea typeface="PingFang TC"/>
              </a:rPr>
              <a:t>•  - Voltage regulation: PM 輸出 V∝ω 隨熱輸入漂移,flywheel 減輕但不消除,需閉迴路平滑。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2A9D8F"/>
                </a:solidFill>
                <a:latin typeface="PingFang TC"/>
                <a:ea typeface="PingFang TC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93776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500" b="1">
                <a:solidFill>
                  <a:srgbClr val="1F3A5F"/>
                </a:solidFill>
                <a:latin typeface="PingFang TC"/>
                <a:ea typeface="PingFang TC"/>
              </a:rPr>
              <a:t>參考文獻（46 篇，節錄）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237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5A6370"/>
                </a:solidFill>
                <a:latin typeface="PingFang TC"/>
                <a:ea typeface="PingFang T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Design of nested Halbach cylinder arrays for magnetic refrigeration ap — https://www.sciencedirect.com/science/article/ab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Optimization and improvement of Halbach cylinder design (arXiv:1409.38 — https://arxiv.org/pdf/1409.3859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The ideal dimensions of a Halbach cylinder of finite length (arXiv:141 — https://arxiv.org/pdf/1410.0496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Progress In Electromagnetics Research B, Vol. 58 (Halbach B = Br ln(ro — https://www.jpier.org/ac_api/download.php?id=140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Design and Fabrication of 2-T Rotating Halbach Magnet for Magnetic Ref — https://koreascience.kr/article/JAKO201713842134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Towards powerful magnetocaloric devices with static electro-permanent  — https://pmc.ncbi.nlm.nih.gov/articles/PMC1000653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Thermal energy harvesting system based on magnetocaloric materials (EP — https://www.epjap.org/articles/epjap/full_html/2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Can gadolinium compete with La-Fe-Co-Si in a thermomagnetic generator? — https://pmc.ncbi.nlm.nih.gov/articles/PMC8366665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Efficient and affordable thermomagnetic materials for harvesting low g — https://arxiv.org/pdf/2001.03375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Hard Ferromagnets as a New Perspective on Materials for Thermomagnetic — https://arxiv.org/abs/2301.08854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A review on design and performance of thermomagnetic devices (Kishore  — https://www.osti.gov/servlets/purl/1538781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Neodymium Temperature Ratings (e-Magnets UK) — https://e-magnetsuk.com/introduction-to-neodymiu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Temperature Effects on Neodymium Iron Boron, NdFeB magnets (Stanford M — https://www.stanfordmagnets.com/ndfeb-magnets-te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262B33"/>
                </a:solidFill>
                <a:latin typeface="PingFang TC"/>
                <a:ea typeface="PingFang TC"/>
              </a:rPr>
              <a:t>•  The Superior Temperature Stability of SmCo Magnets (Stanford Magnets) — https://www.stanfordmagnets.com/the-superior-tem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