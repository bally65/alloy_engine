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109728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E9C466"/>
                </a:solidFill>
                <a:latin typeface="WenQuanYi Zen Hei"/>
                <a:ea typeface="WenQuanYi Zen Hei"/>
              </a:rPr>
              <a:t>EXPERIMENTAL VALIDATION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WenQuanYi Zen Hei"/>
                <a:ea typeface="WenQuanYi Zen Hei"/>
              </a:rPr>
              <a:t>熱磁材料實驗驗證計畫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F2F4F7"/>
                </a:solidFill>
                <a:latin typeface="WenQuanYi Zen Hei"/>
                <a:ea typeface="WenQuanYi Zen Hei"/>
              </a:rPr>
              <a:t>小規模先導 → 階段閘控 → 規模化擴張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>
                <a:solidFill>
                  <a:srgbClr val="F2F4F7"/>
                </a:solidFill>
                <a:latin typeface="WenQuanYi Zen Hei"/>
                <a:ea typeface="WenQuanYi Zen Hei"/>
              </a:rPr>
              <a:t>把模型的『相對可信』收斂成『絕對可信』；先以最小可行先導去風險，避免重蹈覆轍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E9C466"/>
                </a:solidFill>
                <a:latin typeface="WenQuanYi Zen Hei"/>
                <a:ea typeface="WenQuanYi Zen Hei"/>
              </a:rPr>
              <a:t>alloy_engine · 實驗計畫 + 詳細需求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WenQuanYi Zen Hei"/>
                <a:ea typeface="WenQuanYi Zen He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1F3A5F"/>
                </a:solidFill>
                <a:latin typeface="WenQuanYi Zen Hei"/>
                <a:ea typeface="WenQuanYi Zen Hei"/>
              </a:rPr>
              <a:t>計畫一句話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5603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262B33"/>
                </a:solidFill>
                <a:latin typeface="WenQuanYi Zen Hei"/>
                <a:ea typeface="WenQuanYi Zen Hei"/>
              </a:rPr>
              <a:t>模型已把第一性原理 + 公開資料能做的都做完，剩下唯有實測能解。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1F3A5F"/>
                </a:solidFill>
                <a:latin typeface="WenQuanYi Zen Hei"/>
                <a:ea typeface="WenQuanYi Zen Hei"/>
              </a:rPr>
              <a:t>策略：先用最易取得的『純 Gd』打通整條量測—回填流程（最小成本驗證可行性），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262B33"/>
                </a:solidFill>
                <a:latin typeface="WenQuanYi Zen Hei"/>
                <a:ea typeface="WenQuanYi Zen Hei"/>
              </a:rPr>
              <a:t>通過決策門後再逐步擴張到一階材料、GA 候選、複合與整機原型。</a:t>
            </a:r>
          </a:p>
        </p:txBody>
      </p:sp>
      <p:pic>
        <p:nvPicPr>
          <p:cNvPr id="8" name="Picture 7" descr="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3566160"/>
            <a:ext cx="7406640" cy="34623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WenQuanYi Zen Hei"/>
                <a:ea typeface="WenQuanYi Zen Hei"/>
              </a:rP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1F3A5F"/>
                </a:solidFill>
                <a:latin typeface="WenQuanYi Zen Hei"/>
                <a:ea typeface="WenQuanYi Zen Hei"/>
              </a:rPr>
              <a:t>為什麼一定要做實驗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5603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62B33"/>
                </a:solidFill>
                <a:latin typeface="WenQuanYi Zen Hei"/>
                <a:ea typeface="WenQuanYi Zen Hei"/>
              </a:rPr>
              <a:t>●  模型現況：相對可信、絕對待測。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0">
                <a:solidFill>
                  <a:srgbClr val="262B33"/>
                </a:solidFill>
                <a:latin typeface="WenQuanYi Zen Hei"/>
                <a:ea typeface="WenQuanYi Zen Hei"/>
              </a:rPr>
              <a:t>–  真實 Tc baseline R²=0.78（已用 NEMAD 真實資料）。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0">
                <a:solidFill>
                  <a:srgbClr val="262B33"/>
                </a:solidFill>
                <a:latin typeface="WenQuanYi Zen Hei"/>
                <a:ea typeface="WenQuanYi Zen Hei"/>
              </a:rPr>
              <a:t>–  Br 溫度修正後 bias 僅 −0.12T（多為 0K-vs-室溫差，非系統性低估）。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0">
                <a:solidFill>
                  <a:srgbClr val="262B33"/>
                </a:solidFill>
                <a:latin typeface="WenQuanYi Zen Hei"/>
                <a:ea typeface="WenQuanYi Zen Hei"/>
              </a:rPr>
              <a:t>–  發電側功率密度是理想化上界（比真實原型高 ~10×）。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0">
                <a:solidFill>
                  <a:srgbClr val="262B33"/>
                </a:solidFill>
                <a:latin typeface="WenQuanYi Zen Hei"/>
                <a:ea typeface="WenQuanYi Zen Hei"/>
              </a:rPr>
              <a:t>–  複合 connectivity 影響增益 ~43%，但定性結論穩健。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E76F51"/>
                </a:solidFill>
                <a:latin typeface="WenQuanYi Zen Hei"/>
                <a:ea typeface="WenQuanYi Zen Hei"/>
              </a:rPr>
              <a:t>●  這些『絕對值待收斂』的缺口，只有真實樣品的 M-H/DSC/SEM 能補。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1F3A5F"/>
                </a:solidFill>
                <a:latin typeface="WenQuanYi Zen Hei"/>
                <a:ea typeface="WenQuanYi Zen Hei"/>
              </a:rPr>
              <a:t>●  目標：用最小規模、可控成本，把絕對值校準，讓設計能真正落地。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WenQuanYi Zen Hei"/>
                <a:ea typeface="WenQuanYi Zen Hei"/>
              </a:rPr>
              <a:t>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1F3A5F"/>
                </a:solidFill>
                <a:latin typeface="WenQuanYi Zen Hei"/>
                <a:ea typeface="WenQuanYi Zen Hei"/>
              </a:rPr>
              <a:t>核心理念：先導 + 決策門 + 擴張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5603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04</a:t>
            </a:r>
          </a:p>
        </p:txBody>
      </p:sp>
      <p:pic>
        <p:nvPicPr>
          <p:cNvPr id="7" name="Picture 6" descr="de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10972800" cy="38505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0292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262B33"/>
                </a:solidFill>
                <a:latin typeface="WenQuanYi Zen Hei"/>
                <a:ea typeface="WenQuanYi Zen Hei"/>
              </a:rPr>
              <a:t>●  每階段先小規模驗證『流程＋模型量級』，過了決策門才放大投入。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E76F51"/>
                </a:solidFill>
                <a:latin typeface="WenQuanYi Zen Hei"/>
                <a:ea typeface="WenQuanYi Zen Hei"/>
              </a:rPr>
              <a:t>●  任一門未過 → 回上一階段修模型/製程，不貿然擴張——這就是避免重蹈覆轍。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WenQuanYi Zen Hei"/>
                <a:ea typeface="WenQuanYi Zen He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1F3A5F"/>
                </a:solidFill>
                <a:latin typeface="WenQuanYi Zen Hei"/>
                <a:ea typeface="WenQuanYi Zen Hei"/>
              </a:rPr>
              <a:t>總體目標（SMART）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5603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828800" cy="42062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WenQuanYi Zen Hei"/>
                <a:ea typeface="WenQuanYi Zen Hei"/>
              </a:rPr>
              <a:t>目標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737360"/>
            <a:ext cx="6858000" cy="42062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737360"/>
            <a:ext cx="6766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WenQuanYi Zen Hei"/>
                <a:ea typeface="WenQuanYi Zen Hei"/>
              </a:rPr>
              <a:t>內容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0" y="1737360"/>
            <a:ext cx="2560320" cy="42062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72600" y="1737360"/>
            <a:ext cx="24688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WenQuanYi Zen Hei"/>
                <a:ea typeface="WenQuanYi Zen Hei"/>
              </a:rPr>
              <a:t>量化判準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157984"/>
            <a:ext cx="182880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157984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G-A 流程可信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2157984"/>
            <a:ext cx="685800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2157984"/>
            <a:ext cx="6766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打通製樣→量測→回填全鏈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2157984"/>
            <a:ext cx="256032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2157984"/>
            <a:ext cx="24688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Gd ΔM/ΔS 與文獻 ±20% 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578608"/>
            <a:ext cx="18288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578608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G-B 模型校準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2578608"/>
            <a:ext cx="68580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2578608"/>
            <a:ext cx="6766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用實測收斂 ΔM/w/connectivity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2578608"/>
            <a:ext cx="25603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2578608"/>
            <a:ext cx="24688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關鍵參數誤差 &lt; 25%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999232"/>
            <a:ext cx="182880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999232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G-C 端到端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80" y="2999232"/>
            <a:ext cx="685800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2999232"/>
            <a:ext cx="6766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GA 候選的預測 vs 實測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2999232"/>
            <a:ext cx="256032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2999232"/>
            <a:ext cx="24688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Tc 誤差 &lt; 50°C、排序正確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419856"/>
            <a:ext cx="18288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419856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G-D 絕對校準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8880" y="3419856"/>
            <a:ext cx="68580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14600" y="3419856"/>
            <a:ext cx="6766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整機原型錨定發電側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0" y="3419856"/>
            <a:ext cx="25603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72600" y="3419856"/>
            <a:ext cx="24688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P/V、η 量級對齊文獻原型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5A6370"/>
                </a:solidFill>
                <a:latin typeface="WenQuanYi Zen Hei"/>
                <a:ea typeface="WenQuanYi Zen Hei"/>
              </a:rPr>
              <a:t>每個目標都對應一個可量測的『過/不過』判準，避免主觀。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WenQuanYi Zen Hei"/>
                <a:ea typeface="WenQuanYi Zen Hei"/>
              </a:rPr>
              <a:t>KPI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1F3A5F"/>
                </a:solidFill>
                <a:latin typeface="WenQuanYi Zen Hei"/>
                <a:ea typeface="WenQuanYi Zen Hei"/>
              </a:rPr>
              <a:t>成功判準與 KPI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5603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62B33"/>
                </a:solidFill>
                <a:latin typeface="WenQuanYi Zen Hei"/>
                <a:ea typeface="WenQuanYi Zen Hei"/>
              </a:rPr>
              <a:t>●  先導 KPI（Phase 0，最關鍵）：純 Gd 的 ΔM(T)、ΔS_M、Tc 與文獻吻合（±20%）。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0">
                <a:solidFill>
                  <a:srgbClr val="262B33"/>
                </a:solidFill>
                <a:latin typeface="WenQuanYi Zen Hei"/>
                <a:ea typeface="WenQuanYi Zen Hei"/>
              </a:rPr>
              <a:t>–  若連最單純的二階材料都對不上 → 是量測/流程問題，必須先解決再前進。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62B33"/>
                </a:solidFill>
                <a:latin typeface="WenQuanYi Zen Hei"/>
                <a:ea typeface="WenQuanYi Zen Hei"/>
              </a:rPr>
              <a:t>●  模型校準 KPI：回填後，reference_materials 與 design_tmg 的相對排序不變、絕對值收斂。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62B33"/>
                </a:solidFill>
                <a:latin typeface="WenQuanYi Zen Hei"/>
                <a:ea typeface="WenQuanYi Zen Hei"/>
              </a:rPr>
              <a:t>●  端到端 KPI：GA 推薦合金實測 Tc 誤差 &lt; 50°C；Top-N 排序與實測一致。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62B33"/>
                </a:solidFill>
                <a:latin typeface="WenQuanYi Zen Hei"/>
                <a:ea typeface="WenQuanYi Zen Hei"/>
              </a:rPr>
              <a:t>●  整機 KPI：原型 P/V、η 與文獻 TMG 原型同量級（收斂 D12 的 ~10× 落差）。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A9D8F"/>
                </a:solidFill>
                <a:latin typeface="WenQuanYi Zen Hei"/>
                <a:ea typeface="WenQuanYi Zen Hei"/>
              </a:rPr>
              <a:t>●  全程 KPI：每階段資料入庫、可回填、可復現（對應 git 內腳本）。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WenQuanYi Zen Hei"/>
                <a:ea typeface="WenQuanYi Zen Hei"/>
              </a:rPr>
              <a:t>WHAT TO VALIDATE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1F3A5F"/>
                </a:solidFill>
                <a:latin typeface="WenQuanYi Zen Hei"/>
                <a:ea typeface="WenQuanYi Zen Hei"/>
              </a:rPr>
              <a:t>要驗證什麼（模型 → 真實）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5603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2926080" cy="47548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2834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WenQuanYi Zen Hei"/>
                <a:ea typeface="WenQuanYi Zen Hei"/>
              </a:rPr>
              <a:t>模型量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737360"/>
            <a:ext cx="3657600" cy="47548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737360"/>
            <a:ext cx="35661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WenQuanYi Zen Hei"/>
                <a:ea typeface="WenQuanYi Zen Hei"/>
              </a:rPr>
              <a:t>現況（假設/估計）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737360"/>
            <a:ext cx="4572000" cy="47548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1737360"/>
            <a:ext cx="44805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WenQuanYi Zen Hei"/>
                <a:ea typeface="WenQuanYi Zen Hei"/>
              </a:rPr>
              <a:t>實測校準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212848"/>
            <a:ext cx="2926080" cy="47548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212848"/>
            <a:ext cx="2834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ΔM(工作溫度)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212848"/>
            <a:ext cx="3657600" cy="47548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2212848"/>
            <a:ext cx="35661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平均場 m(T/Tc) 推估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212848"/>
            <a:ext cx="4572000" cy="47548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2212848"/>
            <a:ext cx="44805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VSM M-H 迴線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688336"/>
            <a:ext cx="29260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688336"/>
            <a:ext cx="2834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一階銳度 w (D5)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2688336"/>
            <a:ext cx="36576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2688336"/>
            <a:ext cx="35661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假設值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2688336"/>
            <a:ext cx="45720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2688336"/>
            <a:ext cx="44805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M(T) 斜率擬合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163824"/>
            <a:ext cx="2926080" cy="47548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163824"/>
            <a:ext cx="2834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複合 connectivity (D6)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3163824"/>
            <a:ext cx="3657600" cy="47548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3163824"/>
            <a:ext cx="35661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假設 0.7（敏感 43%）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3163824"/>
            <a:ext cx="4572000" cy="47548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480" y="3163824"/>
            <a:ext cx="44805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SEM 相連通度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639312"/>
            <a:ext cx="29260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639312"/>
            <a:ext cx="2834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κ / Cp / ΔS_M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66160" y="3639312"/>
            <a:ext cx="36576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11880" y="3639312"/>
            <a:ext cx="35661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純元素混合估計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3639312"/>
            <a:ext cx="45720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9480" y="3639312"/>
            <a:ext cx="44805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雷射閃光 / DSC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114800"/>
            <a:ext cx="2926080" cy="47548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114800"/>
            <a:ext cx="2834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氫化 Tc 上修 (D8)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66160" y="4114800"/>
            <a:ext cx="3657600" cy="47548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1880" y="4114800"/>
            <a:ext cx="35661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heuristic 模型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4114800"/>
            <a:ext cx="4572000" cy="47548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69480" y="4114800"/>
            <a:ext cx="44805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氫化前後 VSM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4590288"/>
            <a:ext cx="29260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4590288"/>
            <a:ext cx="2834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整機 W/η/P (D12)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66160" y="4590288"/>
            <a:ext cx="36576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11880" y="4590288"/>
            <a:ext cx="35661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理想化上界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23760" y="4590288"/>
            <a:ext cx="45720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69480" y="4590288"/>
            <a:ext cx="44805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原型實測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WenQuanYi Zen Hei"/>
                <a:ea typeface="WenQuanYi Zen Hei"/>
              </a:rPr>
              <a:t>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1F3A5F"/>
                </a:solidFill>
                <a:latin typeface="WenQuanYi Zen Hei"/>
                <a:ea typeface="WenQuanYi Zen Hei"/>
              </a:rPr>
              <a:t>樣品計畫（最小可驗證集）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5603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91440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822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WenQuanYi Zen Hei"/>
                <a:ea typeface="WenQuanYi Zen Hei"/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1691640"/>
            <a:ext cx="237744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169164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WenQuanYi Zen Hei"/>
                <a:ea typeface="WenQuanYi Zen Hei"/>
              </a:rPr>
              <a:t>材料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1691640"/>
            <a:ext cx="274320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169164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WenQuanYi Zen Hei"/>
                <a:ea typeface="WenQuanYi Zen Hei"/>
              </a:rPr>
              <a:t>目的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691640"/>
            <a:ext cx="182880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691640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WenQuanYi Zen Hei"/>
                <a:ea typeface="WenQuanYi Zen Hei"/>
              </a:rPr>
              <a:t>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691640"/>
            <a:ext cx="292608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691640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WenQuanYi Zen Hei"/>
                <a:ea typeface="WenQuanYi Zen Hei"/>
              </a:rPr>
              <a:t>取得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194560"/>
            <a:ext cx="91440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194560"/>
            <a:ext cx="822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M1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2194560"/>
            <a:ext cx="237744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08760" y="219456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純 Gd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2194560"/>
            <a:ext cx="274320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6200" y="219456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二階基準、流程打通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194560"/>
            <a:ext cx="182880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194560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~293K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2194560"/>
            <a:ext cx="292608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194560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商購（高純）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697480"/>
            <a:ext cx="9144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2697480"/>
            <a:ext cx="822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M2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63040" y="269748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269748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La(Fe,Si)13(H)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269748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6200" y="269748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一階 + 氫化驗證(D8)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269748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2697480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200→340K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0" y="2697480"/>
            <a:ext cx="2926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2697480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委外/合作合成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200400"/>
            <a:ext cx="91440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3200400"/>
            <a:ext cx="822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M3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63040" y="3200400"/>
            <a:ext cx="237744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08760" y="320040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(Mn,Fe)2(P,Si)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3200400"/>
            <a:ext cx="274320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86200" y="320040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無稀土一階、ΔS 最大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3200400"/>
            <a:ext cx="182880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3200400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~280K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0" y="3200400"/>
            <a:ext cx="292608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200" y="3200400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委外/合作合成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3703320"/>
            <a:ext cx="9144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3703320"/>
            <a:ext cx="822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M4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63040" y="370332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370332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GA 候選 Fe 系 1–2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40480" y="370332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86200" y="370332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端到端模型驗證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0" y="370332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29400" y="3703320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依搜尋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12480" y="3703320"/>
            <a:ext cx="2926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58200" y="3703320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電弧熔煉自製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5120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5A6370"/>
                </a:solidFill>
                <a:latin typeface="WenQuanYi Zen Hei"/>
                <a:ea typeface="WenQuanYi Zen Hei"/>
              </a:rPr>
              <a:t>選材邏輯：覆蓋二階/一階、有/無稀土、文獻基準/模型自選——以最少樣品覆蓋最多物理區。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WenQuanYi Zen Hei"/>
                <a:ea typeface="WenQuanYi Zen Hei"/>
              </a:rPr>
              <a:t>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1F3A5F"/>
                </a:solidFill>
                <a:latin typeface="WenQuanYi Zen Hei"/>
                <a:ea typeface="WenQuanYi Zen Hei"/>
              </a:rPr>
              <a:t>樣品取得策略：買 vs 自製 vs 委外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5603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201168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WenQuanYi Zen Hei"/>
                <a:ea typeface="WenQuanYi Zen Hei"/>
              </a:rPr>
              <a:t>方式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737360"/>
            <a:ext cx="329184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73736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WenQuanYi Zen Hei"/>
                <a:ea typeface="WenQuanYi Zen Hei"/>
              </a:rPr>
              <a:t>適用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737360"/>
            <a:ext cx="310896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1737360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WenQuanYi Zen Hei"/>
                <a:ea typeface="WenQuanYi Zen Hei"/>
              </a:rPr>
              <a:t>優點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1737360"/>
            <a:ext cx="21031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737360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WenQuanYi Zen Hei"/>
                <a:ea typeface="WenQuanYi Zen Hei"/>
              </a:rPr>
              <a:t>風險/成本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240280"/>
            <a:ext cx="201168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240280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商購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240280"/>
            <a:ext cx="329184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80" y="224028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純 Gd、純元素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240280"/>
            <a:ext cx="310896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2240280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快、純度保證、低風險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2240280"/>
            <a:ext cx="210312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2240280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成分受限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74320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743200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自製(電弧熔煉)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2743200"/>
            <a:ext cx="32918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97480" y="274320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Fe 系 GA 候選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2743200"/>
            <a:ext cx="31089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2743200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成分自由、快迭代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274320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98280" y="2743200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需熔煉+退火設備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246120"/>
            <a:ext cx="201168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委外/學界合作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246120"/>
            <a:ext cx="329184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97480" y="324612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La-Fe-Si、Mn-Fe-P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3246120"/>
            <a:ext cx="310896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89320" y="3246120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拿到難製一階相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560" y="3246120"/>
            <a:ext cx="210312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98280" y="3246120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週期長、需協調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57200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2A9D8F"/>
                </a:solidFill>
                <a:latin typeface="WenQuanYi Zen Hei"/>
                <a:ea typeface="WenQuanYi Zen Hei"/>
              </a:rPr>
              <a:t>●  先導 Phase 0 只需『商購純 Gd』→ 零合成風險、最快啟動。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E76F51"/>
                </a:solidFill>
                <a:latin typeface="WenQuanYi Zen Hei"/>
                <a:ea typeface="WenQuanYi Zen Hei"/>
              </a:rPr>
              <a:t>●  一階材料優先找有 La-Fe-Si/Mn-Fe-P 經驗的實驗室合作，避免自行踩相形成的坑。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WenQuanYi Zen Hei"/>
                <a:ea typeface="WenQuanYi Zen Hei"/>
              </a:rPr>
              <a:t>PHASE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1F3A5F"/>
                </a:solidFill>
                <a:latin typeface="WenQuanYi Zen Hei"/>
                <a:ea typeface="WenQuanYi Zen Hei"/>
              </a:rPr>
              <a:t>先導實驗：純 Gd（最小可行）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5603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1">
                <a:solidFill>
                  <a:srgbClr val="262B33"/>
                </a:solidFill>
                <a:latin typeface="WenQuanYi Zen Hei"/>
                <a:ea typeface="WenQuanYi Zen Hei"/>
              </a:rPr>
              <a:t>●  為何選 Gd：商購可得、二階、文獻 M-H/ΔS_M 完整。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1">
                <a:solidFill>
                  <a:srgbClr val="262B33"/>
                </a:solidFill>
                <a:latin typeface="WenQuanYi Zen Hei"/>
                <a:ea typeface="WenQuanYi Zen Hei"/>
              </a:rPr>
              <a:t>●  範圍：1 個樣品、2 項核心量測（VSM + DSC）。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1">
                <a:solidFill>
                  <a:srgbClr val="262B33"/>
                </a:solidFill>
                <a:latin typeface="WenQuanYi Zen Hei"/>
                <a:ea typeface="WenQuanYi Zen Hei"/>
              </a:rPr>
              <a:t>●  目的：打通『製樣→量測→回填→比對文獻』整條鏈。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1">
                <a:solidFill>
                  <a:srgbClr val="262B33"/>
                </a:solidFill>
                <a:latin typeface="WenQuanYi Zen Hei"/>
                <a:ea typeface="WenQuanYi Zen Hei"/>
              </a:rPr>
              <a:t>●  成本/時間：最低（~2 個月、1 樣）。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1">
                <a:solidFill>
                  <a:srgbClr val="2A9D8F"/>
                </a:solidFill>
                <a:latin typeface="WenQuanYi Zen Hei"/>
                <a:ea typeface="WenQuanYi Zen Hei"/>
              </a:rPr>
              <a:t>●  產出：驗證我們的量測與回填流程本身可信。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828800"/>
            <a:ext cx="5029200" cy="32918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011680"/>
            <a:ext cx="46634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700" b="1">
                <a:solidFill>
                  <a:srgbClr val="1F3A5F"/>
                </a:solidFill>
                <a:latin typeface="WenQuanYi Zen Hei"/>
                <a:ea typeface="WenQuanYi Zen Hei"/>
              </a:rPr>
              <a:t>Phase 0 為什麼關鍵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WenQuanYi Zen Hei"/>
                <a:ea typeface="WenQuanYi Zen Hei"/>
              </a:rPr>
              <a:t>先用『答案已知』的 Gd 校準儀器與流程，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WenQuanYi Zen Hei"/>
                <a:ea typeface="WenQuanYi Zen Hei"/>
              </a:rPr>
              <a:t>確認我們量得準、回填對。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1">
                <a:solidFill>
                  <a:srgbClr val="E76F51"/>
                </a:solidFill>
                <a:latin typeface="WenQuanYi Zen Hei"/>
                <a:ea typeface="WenQuanYi Zen Hei"/>
              </a:rPr>
              <a:t>若連 Gd 都對不上 → 先修流程，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E76F51"/>
                </a:solidFill>
                <a:latin typeface="WenQuanYi Zen Hei"/>
                <a:ea typeface="WenQuanYi Zen Hei"/>
              </a:rPr>
              <a:t>不浪費昂貴的一階樣品。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WenQuanYi Zen Hei"/>
                <a:ea typeface="WenQuanYi Zen Hei"/>
              </a:rPr>
              <a:t>PHASE 0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1F3A5F"/>
                </a:solidFill>
                <a:latin typeface="WenQuanYi Zen Hei"/>
                <a:ea typeface="WenQuanYi Zen Hei"/>
              </a:rPr>
              <a:t>先導步驟與量測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5603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91440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822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WenQuanYi Zen Hei"/>
                <a:ea typeface="WenQuanYi Zen Hei"/>
              </a:rPr>
              <a:t>步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737360"/>
            <a:ext cx="310896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1737360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WenQuanYi Zen Hei"/>
                <a:ea typeface="WenQuanYi Zen Hei"/>
              </a:rPr>
              <a:t>活動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737360"/>
            <a:ext cx="329184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737360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WenQuanYi Zen Hei"/>
                <a:ea typeface="WenQuanYi Zen Hei"/>
              </a:rPr>
              <a:t>量測/輸出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1737360"/>
            <a:ext cx="274320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73736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WenQuanYi Zen Hei"/>
                <a:ea typeface="WenQuanYi Zen Hei"/>
              </a:rPr>
              <a:t>對應模型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94560"/>
            <a:ext cx="914400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194560"/>
            <a:ext cx="822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2194560"/>
            <a:ext cx="3108960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00200" y="2194560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採購高純 Gd + 切樣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2194560"/>
            <a:ext cx="3291840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2194560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EDS/XRD 確認純度相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0" y="2194560"/>
            <a:ext cx="2743200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219456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65176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651760"/>
            <a:ext cx="822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2651760"/>
            <a:ext cx="31089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0200" y="2651760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VSM M-H @ 多溫度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2651760"/>
            <a:ext cx="3291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2651760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ΔJ(T)、磁滯面積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0" y="265176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265176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ΔM / 磁滯損耗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108960"/>
            <a:ext cx="914400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108960"/>
            <a:ext cx="822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54480" y="3108960"/>
            <a:ext cx="3108960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00200" y="3108960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DSC 過 Tc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3108960"/>
            <a:ext cx="3291840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60" y="3108960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ΔS_M、Cp、Tc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80" y="3108960"/>
            <a:ext cx="2743200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1000" y="310896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reference_materials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356616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3566160"/>
            <a:ext cx="822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54480" y="3566160"/>
            <a:ext cx="31089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00200" y="3566160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M(T) 擬合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3566160"/>
            <a:ext cx="3291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09160" y="3566160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二階曲線形狀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55280" y="356616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01000" y="356616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驗證平均場 m(T/Tc)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023360"/>
            <a:ext cx="914400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4023360"/>
            <a:ext cx="822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54480" y="4023360"/>
            <a:ext cx="3108960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00200" y="4023360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比對文獻 + 回填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63440" y="4023360"/>
            <a:ext cx="3291840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09160" y="4023360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±20% 判定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55280" y="4023360"/>
            <a:ext cx="2743200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01000" y="402336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決策門 G0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WenQuanYi Zen Hei"/>
                <a:ea typeface="WenQuanYi Zen Hei"/>
              </a:rPr>
              <a:t>GATE G0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1F3A5F"/>
                </a:solidFill>
                <a:latin typeface="WenQuanYi Zen Hei"/>
                <a:ea typeface="WenQuanYi Zen Hei"/>
              </a:rPr>
              <a:t>決策門 G0：先導通過了嗎？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5603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A9D8F"/>
                </a:solidFill>
                <a:latin typeface="WenQuanYi Zen Hei"/>
                <a:ea typeface="WenQuanYi Zen Hei"/>
              </a:rPr>
              <a:t>●  通過條件：Gd 的 ΔM(T)、ΔS_M、Tc 與文獻吻合（±20%），且回填流程可復現。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62B33"/>
                </a:solidFill>
                <a:latin typeface="WenQuanYi Zen Hei"/>
                <a:ea typeface="WenQuanYi Zen Hei"/>
              </a:rPr>
              <a:t>●  通過 → 進 Phase 1（一階材料），開始投入較貴的合成樣品。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E76F51"/>
                </a:solidFill>
                <a:latin typeface="WenQuanYi Zen Hei"/>
                <a:ea typeface="WenQuanYi Zen Hei"/>
              </a:rPr>
              <a:t>●  未過 → 診斷是量測（校準/退火/氧化）還是模型（公式/單位）問題，修正後重做先導。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1F3A5F"/>
                </a:solidFill>
                <a:latin typeface="WenQuanYi Zen Hei"/>
                <a:ea typeface="WenQuanYi Zen Hei"/>
              </a:rPr>
              <a:t>●  原則：用最便宜的一步，攔下最貴的錯誤——避免重蹈覆轍。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WenQuanYi Zen Hei"/>
                <a:ea typeface="WenQuanYi Zen Hei"/>
              </a:rPr>
              <a:t>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1F3A5F"/>
                </a:solidFill>
                <a:latin typeface="WenQuanYi Zen Hei"/>
                <a:ea typeface="WenQuanYi Zen Hei"/>
              </a:rPr>
              <a:t>一階材料：La-Fe-Si / Mn-Fe-P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5603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62B33"/>
                </a:solidFill>
                <a:latin typeface="WenQuanYi Zen Hei"/>
                <a:ea typeface="WenQuanYi Zen Hei"/>
              </a:rPr>
              <a:t>●  對象：La(Fe,Si)13 與 (Mn,Fe)2(P,Si)——真正高 ΔS_M 的一階 MCE 主力。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62B33"/>
                </a:solidFill>
                <a:latin typeface="WenQuanYi Zen Hei"/>
                <a:ea typeface="WenQuanYi Zen Hei"/>
              </a:rPr>
              <a:t>●  重點量測：M(T) 銳度 → 校 D5 logistic 寬度 w；ΔS_M → 校 reference_materials。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62B33"/>
                </a:solidFill>
                <a:latin typeface="WenQuanYi Zen Hei"/>
                <a:ea typeface="WenQuanYi Zen Hei"/>
              </a:rPr>
              <a:t>●  挑戰：一階相需正確退火/相形成；脆、需小心製樣（與 D9 脆性懲罰呼應）。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0">
                <a:solidFill>
                  <a:srgbClr val="262B33"/>
                </a:solidFill>
                <a:latin typeface="WenQuanYi Zen Hei"/>
                <a:ea typeface="WenQuanYi Zen Hei"/>
              </a:rPr>
              <a:t>–  故優先委外/與有經驗的實驗室合作，降低製程風險。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A9D8F"/>
                </a:solidFill>
                <a:latin typeface="WenQuanYi Zen Hei"/>
                <a:ea typeface="WenQuanYi Zen Hei"/>
              </a:rPr>
              <a:t>●  規模：2–3 個樣品；先各 1 個成分點驗證，再視結果加成分掃描。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WenQuanYi Zen Hei"/>
                <a:ea typeface="WenQuanYi Zen Hei"/>
              </a:rPr>
              <a:t>PHASE 1 · D8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1F3A5F"/>
                </a:solidFill>
                <a:latin typeface="WenQuanYi Zen Hei"/>
                <a:ea typeface="WenQuanYi Zen Hei"/>
              </a:rPr>
              <a:t>氫化 Tc 上修驗證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5603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62B33"/>
                </a:solidFill>
                <a:latin typeface="WenQuanYi Zen Hei"/>
                <a:ea typeface="WenQuanYi Zen Hei"/>
              </a:rPr>
              <a:t>●  模型：hydrogenation_tc_shift_K() 預測 La-Fe-Si 吸氫後 Tc 上修 ~50–150K。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62B33"/>
                </a:solidFill>
                <a:latin typeface="WenQuanYi Zen Hei"/>
                <a:ea typeface="WenQuanYi Zen Hei"/>
              </a:rPr>
              <a:t>●  實驗：同一 La-Fe-Si 樣品，氫化前後各量 VSM/DSC，比較 Tc 位移。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62B33"/>
                </a:solidFill>
                <a:latin typeface="WenQuanYi Zen Hei"/>
                <a:ea typeface="WenQuanYi Zen Hei"/>
              </a:rPr>
              <a:t>●  判準：氫化後 Tc 上移方向正確、量級吻合（±30%）。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1F3A5F"/>
                </a:solidFill>
                <a:latin typeface="WenQuanYi Zen Hei"/>
                <a:ea typeface="WenQuanYi Zen Hei"/>
              </a:rPr>
              <a:t>●  價值：驗證 D8 把『近室溫材料』調到『廢熱溫區』的可行性（解 D10 溫區匹配）。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WenQuanYi Zen Hei"/>
                <a:ea typeface="WenQuanYi Zen Hei"/>
              </a:rPr>
              <a:t>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1F3A5F"/>
                </a:solidFill>
                <a:latin typeface="WenQuanYi Zen Hei"/>
                <a:ea typeface="WenQuanYi Zen Hei"/>
              </a:rPr>
              <a:t>GA 候選端到端 + 複合 connectivity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5603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62B33"/>
                </a:solidFill>
                <a:latin typeface="WenQuanYi Zen Hei"/>
                <a:ea typeface="WenQuanYi Zen Hei"/>
              </a:rPr>
              <a:t>●  GA 候選：用烘焙好的 bundle_real_tc（真實 Tc）跑 run_search，取 Top 1–2 Fe 系配方。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0">
                <a:solidFill>
                  <a:srgbClr val="262B33"/>
                </a:solidFill>
                <a:latin typeface="WenQuanYi Zen Hei"/>
                <a:ea typeface="WenQuanYi Zen Hei"/>
              </a:rPr>
              <a:t>–  電弧熔煉自製 → 量 Tc/Br/σy → 比對模型預測（端到端 sim-to-real 驗證）。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62B33"/>
                </a:solidFill>
                <a:latin typeface="WenQuanYi Zen Hei"/>
                <a:ea typeface="WenQuanYi Zen Hei"/>
              </a:rPr>
              <a:t>●  複合 connectivity（D6 最敏感參數）：製備高κ基底+一階相複合，SEM 量真實連通度。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0">
                <a:solidFill>
                  <a:srgbClr val="262B33"/>
                </a:solidFill>
                <a:latin typeface="WenQuanYi Zen Hei"/>
                <a:ea typeface="WenQuanYi Zen Hei"/>
              </a:rPr>
              <a:t>–  回填 composite.py connectivity，收斂功率增益的絕對值（現為 ×7.6–×11.8 帶）。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A9D8F"/>
                </a:solidFill>
                <a:latin typeface="WenQuanYi Zen Hei"/>
                <a:ea typeface="WenQuanYi Zen Hei"/>
              </a:rPr>
              <a:t>●  規模：~6 樣（GA 候選 + 複合系列）。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WenQuanYi Zen Hei"/>
                <a:ea typeface="WenQuanYi Zen Hei"/>
              </a:rPr>
              <a:t>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1F3A5F"/>
                </a:solidFill>
                <a:latin typeface="WenQuanYi Zen Hei"/>
                <a:ea typeface="WenQuanYi Zen Hei"/>
              </a:rPr>
              <a:t>整機 TMG 原型（發電側絕對校準）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5603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62B33"/>
                </a:solidFill>
                <a:latin typeface="WenQuanYi Zen Hei"/>
                <a:ea typeface="WenQuanYi Zen Hei"/>
              </a:rPr>
              <a:t>●  目標：自製小型 TMG 原型，量測真實 W / η / P-V。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62B33"/>
                </a:solidFill>
                <a:latin typeface="WenQuanYi Zen Hei"/>
                <a:ea typeface="WenQuanYi Zen Hei"/>
              </a:rPr>
              <a:t>●  用前面校準好的最佳材料（一階 + 複合），在實際磁路/熱循環下運轉。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62B33"/>
                </a:solidFill>
                <a:latin typeface="WenQuanYi Zen Hei"/>
                <a:ea typeface="WenQuanYi Zen Hei"/>
              </a:rPr>
              <a:t>●  把結果新增為 reference_devices.py 的『本工作』錨點 → 收斂 D12 的 ~10× 落差。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E76F51"/>
                </a:solidFill>
                <a:latin typeface="WenQuanYi Zen Hei"/>
                <a:ea typeface="WenQuanYi Zen Hei"/>
              </a:rPr>
              <a:t>●  這是最大工程量、放最後做——前三階段全綠燈才啟動。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1F3A5F"/>
                </a:solidFill>
                <a:latin typeface="WenQuanYi Zen Hei"/>
                <a:ea typeface="WenQuanYi Zen Hei"/>
              </a:rPr>
              <a:t>●  成果：整機絕對功率/效率可預測，模型從『相對工具』升級為『絕對預測』。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WenQuanYi Zen Hei"/>
                <a:ea typeface="WenQuanYi Zen Hei"/>
              </a:rPr>
              <a:t>MEASUREMENT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1F3A5F"/>
                </a:solidFill>
                <a:latin typeface="WenQuanYi Zen Hei"/>
                <a:ea typeface="WenQuanYi Zen Hei"/>
              </a:rPr>
              <a:t>量測矩陣（設備 × 測項）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5603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274320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WenQuanYi Zen Hei"/>
                <a:ea typeface="WenQuanYi Zen Hei"/>
              </a:rPr>
              <a:t>設備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691640"/>
            <a:ext cx="219456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69164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WenQuanYi Zen Hei"/>
                <a:ea typeface="WenQuanYi Zen Hei"/>
              </a:rPr>
              <a:t>測項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691640"/>
            <a:ext cx="274320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169164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WenQuanYi Zen Hei"/>
                <a:ea typeface="WenQuanYi Zen Hei"/>
              </a:rPr>
              <a:t>輸出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691640"/>
            <a:ext cx="329184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691640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WenQuanYi Zen Hei"/>
                <a:ea typeface="WenQuanYi Zen Hei"/>
              </a:rPr>
              <a:t>可得性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148840"/>
            <a:ext cx="2743200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14884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EDS / XRD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148840"/>
            <a:ext cx="2194560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214884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成分 / 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2148840"/>
            <a:ext cx="2743200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20" y="214884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純度、相確認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148840"/>
            <a:ext cx="3291840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2148840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高（常見）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0604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60604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VSM / PPMS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260604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260604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M-H 迴線 / M(T)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260604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32120" y="260604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ΔJ、磁滯、w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2606040"/>
            <a:ext cx="3291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2606040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中（需磁量測）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063240"/>
            <a:ext cx="2743200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06324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DSC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3063240"/>
            <a:ext cx="2194560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37560" y="306324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ΔS_M / Cp / Tc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3063240"/>
            <a:ext cx="2743200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32120" y="306324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熱量、相變峰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3063240"/>
            <a:ext cx="3291840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3063240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52044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352044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雷射閃光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352044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37560" y="352044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熱擴散 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352044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32120" y="352044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3520440"/>
            <a:ext cx="3291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5320" y="3520440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中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3977640"/>
            <a:ext cx="2743200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397764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SEM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91840" y="3977640"/>
            <a:ext cx="2194560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37560" y="397764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微結構 / 連通度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0" y="3977640"/>
            <a:ext cx="2743200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32120" y="397764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connectivity、φ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0" y="3977640"/>
            <a:ext cx="3291840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75320" y="3977640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高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43484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443484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自製 TMG 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91840" y="443484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37560" y="443484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W / η / 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0" y="443484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32120" y="443484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整機效能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0" y="4434840"/>
            <a:ext cx="3291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75320" y="4434840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262B33"/>
                </a:solidFill>
                <a:latin typeface="WenQuanYi Zen Hei"/>
                <a:ea typeface="WenQuanYi Zen Hei"/>
              </a:rPr>
              <a:t>低（工程）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WenQuanYi Zen Hei"/>
                <a:ea typeface="WenQuanYi Zen Hei"/>
              </a:rPr>
              <a:t>CLOSED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1F3A5F"/>
                </a:solidFill>
                <a:latin typeface="WenQuanYi Zen Hei"/>
                <a:ea typeface="WenQuanYi Zen Hei"/>
              </a:rPr>
              <a:t>量到什麼 → 回填模型哪裡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5603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18</a:t>
            </a:r>
          </a:p>
        </p:txBody>
      </p:sp>
      <p:pic>
        <p:nvPicPr>
          <p:cNvPr id="7" name="Picture 6" descr="backf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91640"/>
            <a:ext cx="9601200" cy="481670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WenQuanYi Zen Hei"/>
                <a:ea typeface="WenQuanYi Zen Hei"/>
              </a:rP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1F3A5F"/>
                </a:solidFill>
                <a:latin typeface="WenQuanYi Zen Hei"/>
                <a:ea typeface="WenQuanYi Zen Hei"/>
              </a:rPr>
              <a:t>時程（階段化 Gantt）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5603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19</a:t>
            </a:r>
          </a:p>
        </p:txBody>
      </p:sp>
      <p:pic>
        <p:nvPicPr>
          <p:cNvPr id="7" name="Picture 6" descr="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83080"/>
            <a:ext cx="10424160" cy="488682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WenQuanYi Zen Hei"/>
                <a:ea typeface="WenQuanYi Zen Hei"/>
              </a:rPr>
              <a:t>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1F3A5F"/>
                </a:solidFill>
                <a:latin typeface="WenQuanYi Zen Hei"/>
                <a:ea typeface="WenQuanYi Zen Hei"/>
              </a:rPr>
              <a:t>里程碑與決策門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5603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28016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188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WenQuanYi Zen Hei"/>
                <a:ea typeface="WenQuanYi Zen Hei"/>
              </a:rPr>
              <a:t>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737360"/>
            <a:ext cx="201168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1737360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WenQuanYi Zen Hei"/>
                <a:ea typeface="WenQuanYi Zen Hei"/>
              </a:rPr>
              <a:t>里程碑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737360"/>
            <a:ext cx="457200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40" y="1737360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WenQuanYi Zen Hei"/>
                <a:ea typeface="WenQuanYi Zen Hei"/>
              </a:rPr>
              <a:t>內容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737360"/>
            <a:ext cx="274320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73736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WenQuanYi Zen Hei"/>
                <a:ea typeface="WenQuanYi Zen Hei"/>
              </a:rPr>
              <a:t>決策門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240280"/>
            <a:ext cx="128016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240280"/>
            <a:ext cx="1188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M2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2240280"/>
            <a:ext cx="201168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5960" y="2240280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先導完成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2240280"/>
            <a:ext cx="457200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40" y="2240280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Gd 流程打通、回填驗證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240280"/>
            <a:ext cx="274320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224028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G0 go/no-go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743200"/>
            <a:ext cx="12801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743200"/>
            <a:ext cx="1188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M5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0240" y="274320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65960" y="2743200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一階驗證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0" y="2743200"/>
            <a:ext cx="4572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77640" y="2743200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La-Fe-Si/Mn-Fe-P + 氫化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2743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274320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246120"/>
            <a:ext cx="128016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1188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M8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20240" y="3246120"/>
            <a:ext cx="201168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65960" y="3246120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端到端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1920" y="3246120"/>
            <a:ext cx="457200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77640" y="3246120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GA 候選 + 複合 connectivity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3246120"/>
            <a:ext cx="274320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9640" y="324612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G1 go/no-go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3749040"/>
            <a:ext cx="12801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3749040"/>
            <a:ext cx="1188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M12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20240" y="374904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65960" y="3749040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整機原型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31920" y="3749040"/>
            <a:ext cx="4572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77640" y="3749040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發電側絕對校準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20" y="374904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49640" y="374904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計畫收尾/續期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029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E76F51"/>
                </a:solidFill>
                <a:latin typeface="WenQuanYi Zen Hei"/>
                <a:ea typeface="WenQuanYi Zen Hei"/>
              </a:rPr>
              <a:t>兩個 go/no-go 門（G0/G1）是去風險核心：沒過不放大投入。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WenQuanYi Zen Hei"/>
                <a:ea typeface="WenQuanYi Zen Hei"/>
              </a:rPr>
              <a:t>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1F3A5F"/>
                </a:solidFill>
                <a:latin typeface="WenQuanYi Zen Hei"/>
                <a:ea typeface="WenQuanYi Zen Hei"/>
              </a:rPr>
              <a:t>設備需求與取得管道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5603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62B33"/>
                </a:solidFill>
                <a:latin typeface="WenQuanYi Zen Hei"/>
                <a:ea typeface="WenQuanYi Zen Hei"/>
              </a:rPr>
              <a:t>●  自有/校內共儀：XRD、SEM、DSC、VSM/PPMS——多數材料系所具備，先盤點。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62B33"/>
                </a:solidFill>
                <a:latin typeface="WenQuanYi Zen Hei"/>
                <a:ea typeface="WenQuanYi Zen Hei"/>
              </a:rPr>
              <a:t>●  合成：電弧熔煉爐 + 退火爐（Fe 系自製）；一階相委外或合作。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62B33"/>
                </a:solidFill>
                <a:latin typeface="WenQuanYi Zen Hei"/>
                <a:ea typeface="WenQuanYi Zen Hei"/>
              </a:rPr>
              <a:t>●  氫化：H2 氣氛爐（La-Fe-Si-H），需安全規範——可委外。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62B33"/>
                </a:solidFill>
                <a:latin typeface="WenQuanYi Zen Hei"/>
                <a:ea typeface="WenQuanYi Zen Hei"/>
              </a:rPr>
              <a:t>●  整機台：自製（磁路 + 換熱 + 線圈 + 量測），工程量大，Phase 3 才投入。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A9D8F"/>
                </a:solidFill>
                <a:latin typeface="WenQuanYi Zen Hei"/>
                <a:ea typeface="WenQuanYi Zen Hei"/>
              </a:rPr>
              <a:t>●  策略：先用共儀與委外把固定成本壓到最低，驗證可行再考慮自建。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WenQuanYi Zen Hei"/>
                <a:ea typeface="WenQuanYi Zen Hei"/>
              </a:rPr>
              <a:t>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1F3A5F"/>
                </a:solidFill>
                <a:latin typeface="WenQuanYi Zen Hei"/>
                <a:ea typeface="WenQuanYi Zen Hei"/>
              </a:rPr>
              <a:t>預算 / 資源粗估（相對量級）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5603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237744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WenQuanYi Zen Hei"/>
                <a:ea typeface="WenQuanYi Zen Hei"/>
              </a:rPr>
              <a:t>階段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737360"/>
            <a:ext cx="274320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73736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WenQuanYi Zen Hei"/>
                <a:ea typeface="WenQuanYi Zen Hei"/>
              </a:rPr>
              <a:t>樣品/合成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737360"/>
            <a:ext cx="292608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1737360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WenQuanYi Zen Hei"/>
                <a:ea typeface="WenQuanYi Zen Hei"/>
              </a:rPr>
              <a:t>量測（共儀/委外）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1737360"/>
            <a:ext cx="228600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173736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WenQuanYi Zen Hei"/>
                <a:ea typeface="WenQuanYi Zen Hei"/>
              </a:rPr>
              <a:t>相對量級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240280"/>
            <a:ext cx="237744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24028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Phase 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2240280"/>
            <a:ext cx="274320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224028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商購 Gd（低）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2240280"/>
            <a:ext cx="292608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2240280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VSM+DSC（低）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2240280"/>
            <a:ext cx="228600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24028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★ 最低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74320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74320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Phase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2743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63240" y="274320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委外一階（中）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2743200"/>
            <a:ext cx="2926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2743200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VSM+DSC+氫化（中）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274320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32520" y="274320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★★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246120"/>
            <a:ext cx="237744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Phase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3246120"/>
            <a:ext cx="274320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63240" y="324612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自製+複合（中）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3246120"/>
            <a:ext cx="292608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6440" y="3246120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+SEM+κ（中）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3246120"/>
            <a:ext cx="228600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32520" y="324612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★★★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374904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374904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Phase 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374904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374904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原型製作（高）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60720" y="3749040"/>
            <a:ext cx="2926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06440" y="3749040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整機量測（高）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86800" y="374904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32520" y="374904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★★★★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5A6370"/>
                </a:solidFill>
                <a:latin typeface="WenQuanYi Zen Hei"/>
                <a:ea typeface="WenQuanYi Zen Hei"/>
              </a:rPr>
              <a:t>精確數字依在地共儀/委外報價而定；本表為相對量級，供排序與分期申請經費。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WenQuanYi Zen Hei"/>
                <a:ea typeface="WenQuanYi Zen Hei"/>
              </a:rPr>
              <a:t>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1F3A5F"/>
                </a:solidFill>
                <a:latin typeface="WenQuanYi Zen Hei"/>
                <a:ea typeface="WenQuanYi Zen Hei"/>
              </a:rPr>
              <a:t>風險登錄與緩解（避免重蹈覆轍）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5603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29184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WenQuanYi Zen Hei"/>
                <a:ea typeface="WenQuanYi Zen Hei"/>
              </a:rPr>
              <a:t>風險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691640"/>
            <a:ext cx="384048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1691640"/>
            <a:ext cx="3749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WenQuanYi Zen Hei"/>
                <a:ea typeface="WenQuanYi Zen Hei"/>
              </a:rPr>
              <a:t>影響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691640"/>
            <a:ext cx="34747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0" y="1691640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WenQuanYi Zen Hei"/>
                <a:ea typeface="WenQuanYi Zen Hei"/>
              </a:rPr>
              <a:t>緩解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94560"/>
            <a:ext cx="329184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19456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62B33"/>
                </a:solidFill>
                <a:latin typeface="WenQuanYi Zen Hei"/>
                <a:ea typeface="WenQuanYi Zen Hei"/>
              </a:rPr>
              <a:t>一階相未正確形成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194560"/>
            <a:ext cx="384048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2194560"/>
            <a:ext cx="3749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62B33"/>
                </a:solidFill>
                <a:latin typeface="WenQuanYi Zen Hei"/>
                <a:ea typeface="WenQuanYi Zen Hei"/>
              </a:rPr>
              <a:t>量到的不是目標相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2194560"/>
            <a:ext cx="347472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80" y="2194560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62B33"/>
                </a:solidFill>
                <a:latin typeface="WenQuanYi Zen Hei"/>
                <a:ea typeface="WenQuanYi Zen Hei"/>
              </a:rPr>
              <a:t>委外/合作 + XRD 先確認相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97480"/>
            <a:ext cx="32918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69748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62B33"/>
                </a:solidFill>
                <a:latin typeface="WenQuanYi Zen Hei"/>
                <a:ea typeface="WenQuanYi Zen Hei"/>
              </a:rPr>
              <a:t>稀土氧化/氫脆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2697480"/>
            <a:ext cx="38404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6200" y="2697480"/>
            <a:ext cx="3749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62B33"/>
                </a:solidFill>
                <a:latin typeface="WenQuanYi Zen Hei"/>
                <a:ea typeface="WenQuanYi Zen Hei"/>
              </a:rPr>
              <a:t>樣品劣化、數據失真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2697480"/>
            <a:ext cx="3474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80" y="2697480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62B33"/>
                </a:solidFill>
                <a:latin typeface="WenQuanYi Zen Hei"/>
                <a:ea typeface="WenQuanYi Zen Hei"/>
              </a:rPr>
              <a:t>惰性氣氛、鍍層、儘速量測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200400"/>
            <a:ext cx="329184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20040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62B33"/>
                </a:solidFill>
                <a:latin typeface="WenQuanYi Zen Hei"/>
                <a:ea typeface="WenQuanYi Zen Hei"/>
              </a:rPr>
              <a:t>量測未校準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3200400"/>
            <a:ext cx="384048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6200" y="3200400"/>
            <a:ext cx="3749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62B33"/>
                </a:solidFill>
                <a:latin typeface="WenQuanYi Zen Hei"/>
                <a:ea typeface="WenQuanYi Zen Hei"/>
              </a:rPr>
              <a:t>絕對值不可信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3200400"/>
            <a:ext cx="347472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6680" y="3200400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62B33"/>
                </a:solidFill>
                <a:latin typeface="WenQuanYi Zen Hei"/>
                <a:ea typeface="WenQuanYi Zen Hei"/>
              </a:rPr>
              <a:t>Phase 0 用 Gd 先校準儀器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703320"/>
            <a:ext cx="32918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70332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62B33"/>
                </a:solidFill>
                <a:latin typeface="WenQuanYi Zen Hei"/>
                <a:ea typeface="WenQuanYi Zen Hei"/>
              </a:rPr>
              <a:t>範圍蔓延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3703320"/>
            <a:ext cx="38404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86200" y="3703320"/>
            <a:ext cx="3749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62B33"/>
                </a:solidFill>
                <a:latin typeface="WenQuanYi Zen Hei"/>
                <a:ea typeface="WenQuanYi Zen Hei"/>
              </a:rPr>
              <a:t>成本失控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0" y="3703320"/>
            <a:ext cx="3474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6680" y="3703320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62B33"/>
                </a:solidFill>
                <a:latin typeface="WenQuanYi Zen Hei"/>
                <a:ea typeface="WenQuanYi Zen Hei"/>
              </a:rPr>
              <a:t>決策門閘控、分期投入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206240"/>
            <a:ext cx="329184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20624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62B33"/>
                </a:solidFill>
                <a:latin typeface="WenQuanYi Zen Hei"/>
                <a:ea typeface="WenQuanYi Zen Hei"/>
              </a:rPr>
              <a:t>GA 候選不可製造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0" y="4206240"/>
            <a:ext cx="384048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86200" y="4206240"/>
            <a:ext cx="3749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62B33"/>
                </a:solidFill>
                <a:latin typeface="WenQuanYi Zen Hei"/>
                <a:ea typeface="WenQuanYi Zen Hei"/>
              </a:rPr>
              <a:t>白做樣品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0" y="4206240"/>
            <a:ext cx="347472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26680" y="4206240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62B33"/>
                </a:solidFill>
                <a:latin typeface="WenQuanYi Zen Hei"/>
                <a:ea typeface="WenQuanYi Zen Hei"/>
              </a:rPr>
              <a:t>先過 D9 脆性/可製造性篩選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WenQuanYi Zen Hei"/>
                <a:ea typeface="WenQuanYi Zen Hei"/>
              </a:rPr>
              <a:t>SCALE-UP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1F3A5F"/>
                </a:solidFill>
                <a:latin typeface="WenQuanYi Zen Hei"/>
                <a:ea typeface="WenQuanYi Zen Hei"/>
              </a:rPr>
              <a:t>規模化路徑：先小後大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5603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24</a:t>
            </a:r>
          </a:p>
        </p:txBody>
      </p:sp>
      <p:pic>
        <p:nvPicPr>
          <p:cNvPr id="7" name="Picture 6" descr="scale_r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737360"/>
            <a:ext cx="7498079" cy="36167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6968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262B33"/>
                </a:solidFill>
                <a:latin typeface="WenQuanYi Zen Hei"/>
                <a:ea typeface="WenQuanYi Zen Hei"/>
              </a:rPr>
              <a:t>●  Phase 0：1 樣驗流程。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262B33"/>
                </a:solidFill>
                <a:latin typeface="WenQuanYi Zen Hei"/>
                <a:ea typeface="WenQuanYi Zen Hei"/>
              </a:rPr>
              <a:t>●  Phase 1：3 樣一階。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262B33"/>
                </a:solidFill>
                <a:latin typeface="WenQuanYi Zen Hei"/>
                <a:ea typeface="WenQuanYi Zen Hei"/>
              </a:rPr>
              <a:t>●  Phase 2：6 樣 GA+複合。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262B33"/>
                </a:solidFill>
                <a:latin typeface="WenQuanYi Zen Hei"/>
                <a:ea typeface="WenQuanYi Zen Hei"/>
              </a:rPr>
              <a:t>●  Phase 3：原型。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●  投入隨『已驗證的把握』遞增。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WenQuanYi Zen Hei"/>
                <a:ea typeface="WenQuanYi Zen He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1F3A5F"/>
                </a:solidFill>
                <a:latin typeface="WenQuanYi Zen Hei"/>
                <a:ea typeface="WenQuanYi Zen Hei"/>
              </a:rPr>
              <a:t>團隊與角色（最小編制）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5603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WenQuanYi Zen Hei"/>
                <a:ea typeface="WenQuanYi Zen Hei"/>
              </a:rPr>
              <a:t>角色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737360"/>
            <a:ext cx="411480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737360"/>
            <a:ext cx="4023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WenQuanYi Zen Hei"/>
                <a:ea typeface="WenQuanYi Zen Hei"/>
              </a:rPr>
              <a:t>職責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0" y="1737360"/>
            <a:ext cx="320040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737360"/>
            <a:ext cx="3108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WenQuanYi Zen Hei"/>
                <a:ea typeface="WenQuanYi Zen Hei"/>
              </a:rPr>
              <a:t>階段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240280"/>
            <a:ext cx="274320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24028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材料製備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240280"/>
            <a:ext cx="411480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240280"/>
            <a:ext cx="4023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合成/退火/委外協調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2240280"/>
            <a:ext cx="320040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2240280"/>
            <a:ext cx="3108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全程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743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74320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磁/熱量測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2743200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743200"/>
            <a:ext cx="4023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VSM/DSC/κ + 數據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0" y="2743200"/>
            <a:ext cx="32004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2743200"/>
            <a:ext cx="3108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全程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246120"/>
            <a:ext cx="274320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24612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建模回填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3246120"/>
            <a:ext cx="411480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3246120"/>
            <a:ext cx="4023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實測→模型校準→復現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0" y="3246120"/>
            <a:ext cx="320040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3246120"/>
            <a:ext cx="3108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全程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74904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74904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整機工程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3749040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9000" y="3749040"/>
            <a:ext cx="4023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原型設計與量測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80" y="3749040"/>
            <a:ext cx="32004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43800" y="3749040"/>
            <a:ext cx="3108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Phase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937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5A6370"/>
                </a:solidFill>
                <a:latin typeface="WenQuanYi Zen Hei"/>
                <a:ea typeface="WenQuanYi Zen Hei"/>
              </a:rPr>
              <a:t>可由 2–3 人 + 共儀起步；建模回填角色與既有 alloy_engine 腳本直接銜接。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WenQuanYi Zen Hei"/>
                <a:ea typeface="WenQuanYi Zen Hei"/>
              </a:rPr>
              <a:t>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1F3A5F"/>
                </a:solidFill>
                <a:latin typeface="WenQuanYi Zen Hei"/>
                <a:ea typeface="WenQuanYi Zen Hei"/>
              </a:rPr>
              <a:t>交付物與下一步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82880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5603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A6370"/>
                </a:solidFill>
                <a:latin typeface="WenQuanYi Zen Hei"/>
                <a:ea typeface="WenQuanYi Zen He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62B33"/>
                </a:solidFill>
                <a:latin typeface="WenQuanYi Zen Hei"/>
                <a:ea typeface="WenQuanYi Zen Hei"/>
              </a:rPr>
              <a:t>●  每階段：量測原始數據 + 回填後的模型參數 + 復現腳本（入 git）。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62B33"/>
                </a:solidFill>
                <a:latin typeface="WenQuanYi Zen Hei"/>
                <a:ea typeface="WenQuanYi Zen Hei"/>
              </a:rPr>
              <a:t>●  先導報告（Phase 0）：Gd 流程驗證 + G0 決策建議。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62B33"/>
                </a:solidFill>
                <a:latin typeface="WenQuanYi Zen Hei"/>
                <a:ea typeface="WenQuanYi Zen Hei"/>
              </a:rPr>
              <a:t>●  校準後模型：reference_materials / composite / device 的實測版。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62B33"/>
                </a:solidFill>
                <a:latin typeface="WenQuanYi Zen Hei"/>
                <a:ea typeface="WenQuanYi Zen Hei"/>
              </a:rPr>
              <a:t>●  最終：整機原型對標報告，收斂發電側絕對校準。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1F3A5F"/>
                </a:solidFill>
                <a:latin typeface="WenQuanYi Zen Hei"/>
                <a:ea typeface="WenQuanYi Zen Hei"/>
              </a:rPr>
              <a:t>●  立即下一步：① 盤點可用共儀 ② 採購純 Gd ③ 跑 run_search 產 GA 候選清單。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9144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3800" b="1">
                <a:solidFill>
                  <a:srgbClr val="FFFFFF"/>
                </a:solidFill>
                <a:latin typeface="WenQuanYi Zen Hei"/>
                <a:ea typeface="WenQuanYi Zen Hei"/>
              </a:rPr>
              <a:t>先導去風險，分期擴張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F2F4F7"/>
                </a:solidFill>
                <a:latin typeface="WenQuanYi Zen Hei"/>
                <a:ea typeface="WenQuanYi Zen Hei"/>
              </a:rPr>
              <a:t>用最小成本，把模型校成可信的設計工具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F2F4F7"/>
                </a:solidFill>
                <a:latin typeface="WenQuanYi Zen Hei"/>
                <a:ea typeface="WenQuanYi Zen Hei"/>
              </a:rPr>
              <a:t>●  Phase 0 純 Gd 打通流程 → G0 → 一階材料 → GA 候選/複合 → G1 → 整機原型。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F2F4F7"/>
                </a:solidFill>
                <a:latin typeface="WenQuanYi Zen Hei"/>
                <a:ea typeface="WenQuanYi Zen Hei"/>
              </a:rPr>
              <a:t>●  每一步都有可量測的決策門，沒過不放大投入——避免重蹈覆轍。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F2F4F7"/>
                </a:solidFill>
                <a:latin typeface="WenQuanYi Zen Hei"/>
                <a:ea typeface="WenQuanYi Zen Hei"/>
              </a:rPr>
              <a:t>●  量到什麼都對應回填模型哪裡，形成閉環校準。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F2F4F7"/>
                </a:solidFill>
                <a:latin typeface="WenQuanYi Zen Hei"/>
                <a:ea typeface="WenQuanYi Zen Hei"/>
              </a:rPr>
              <a:t>●  詳細需求、規格、時程、預算見隨附 Word 文件。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